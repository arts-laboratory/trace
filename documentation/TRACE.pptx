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5" r:id="rId1"/>
  </p:sldMasterIdLst>
  <p:notesMasterIdLst>
    <p:notesMasterId r:id="rId22"/>
  </p:notesMasterIdLst>
  <p:sldIdLst>
    <p:sldId id="256" r:id="rId2"/>
    <p:sldId id="257" r:id="rId3"/>
    <p:sldId id="258" r:id="rId4"/>
    <p:sldId id="259" r:id="rId5"/>
    <p:sldId id="287" r:id="rId6"/>
    <p:sldId id="275" r:id="rId7"/>
    <p:sldId id="278" r:id="rId8"/>
    <p:sldId id="279" r:id="rId9"/>
    <p:sldId id="280" r:id="rId10"/>
    <p:sldId id="282" r:id="rId11"/>
    <p:sldId id="281" r:id="rId12"/>
    <p:sldId id="283" r:id="rId13"/>
    <p:sldId id="268" r:id="rId14"/>
    <p:sldId id="276" r:id="rId15"/>
    <p:sldId id="277" r:id="rId16"/>
    <p:sldId id="284" r:id="rId17"/>
    <p:sldId id="288" r:id="rId18"/>
    <p:sldId id="286" r:id="rId19"/>
    <p:sldId id="285" r:id="rId20"/>
    <p:sldId id="274" r:id="rId21"/>
  </p:sldIdLst>
  <p:sldSz cx="12192000" cy="6858000"/>
  <p:notesSz cx="6858000" cy="9144000"/>
  <p:embeddedFontLst>
    <p:embeddedFont>
      <p:font typeface="Arial Black" panose="020B0604020202020204" pitchFamily="34" charset="0"/>
      <p:bold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2C2A990-EB2E-4373-85A4-5289613AF594}">
  <a:tblStyle styleId="{B2C2A990-EB2E-4373-85A4-5289613AF594}"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1" autoAdjust="0"/>
    <p:restoredTop sz="89910" autoAdjust="0"/>
  </p:normalViewPr>
  <p:slideViewPr>
    <p:cSldViewPr snapToGrid="0">
      <p:cViewPr varScale="1">
        <p:scale>
          <a:sx n="103" d="100"/>
          <a:sy n="103" d="100"/>
        </p:scale>
        <p:origin x="83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 name="Google Shape;4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Three pillars. One: every answer cites the exact source text. Two: the parser keeps scientific content intact, including tables and equations. Three: the model runs locally and is frozen, so nobody changes it on the back end. For a repository program, defensibility over decades matters more than raw benchmark performance.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Because everything runs locally, the whole stack can be frozen into one container image and archived with the project record. Someone can reopen it in 10 or 20 years and rerun the same question. Caveat to state honestly: tool calls that hit the live internet (web search, news, weather) cannot be archived, so they are fenced off from the archival core. Also, bit-identical output needs the same hardware class; GPU floating-point can differ slightly across hardware, so we pin seed and temperature and verify reruns.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Plain-language primer. Each chunk of text becomes a vector, a long list of numbers that encodes its meaning. Chunks about similar things end up near each other. When you ask a question, it is converted the same way and the database returns the nearest chunks. That nearest-neighbor lookup is what the agent's query_collection tool does.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Two phases. Build runs once: gather the documents, parse them with Marker or Docling, chunk and embed the text, and write documents plus vectors into ChromaDB. That is the compute-heavy step. Then we freeze it as a versioned snapshot. From then on, every question only reads the snapshot; nothing writes back. The embedding model has to be frozen with the database, because new questions must be embedded into the same vector space as the stored chunks. Adding documents produces a new snapshot, v1.1, and v1.0 stays rerunnable, so any past answer can be reproduced exactly.</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429398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message for a non-specialist audience. A normal database stores documents. Ours stores documents and vectors side by side. The machines read the vectors to find the right passage. We read the documents. The original sentences, the source, and the page travel with every vector, which is exactly what makes citation and auditing possible.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Common question: why not just train the model on our documents? Fine-tuning bakes the knowledge into the weights. The model changes, nothing can be cited, adding a document means retraining and revalidating, and removing one cleanly is an open research problem. Retrieval keeps the model frozen and hands it the relevant passages at question time, like an open-book exam. The documents stay readable, every claim cites its chunk, and an auditor in 20 years reads text instead of weights. Fine-tuning can still be layered on for vocabulary or output format, but the facts should come from retrieval.</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retrieval loop itself is established. The contribution is designing it for a constraint most systems ignore: answers that must stay traceable and repeatable for decades. Three design choices carry that: classifier-routed parsing so scientific content survives ingestion, provenance as the design target so every claim traces to a stored chunk, and a frozen, offline stack that can be deployed at the edge. IDETC fits because the framing is a deployable, high-trust assistant for digital twins. The paper is scored on four measurable properties: reproducibility across reruns, citation support, parsing fidelity against ground truth, and answer accuracy on expert-graded questions, with the handbook pilot at 17 of 20 as the baseline. Confirm the edge hardware and quantization before quoting specifics.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Marker and </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20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351700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4"/>
        <p:cNvGrpSpPr/>
        <p:nvPr/>
      </p:nvGrpSpPr>
      <p:grpSpPr>
        <a:xfrm>
          <a:off x="0" y="0"/>
          <a:ext cx="0" cy="0"/>
          <a:chOff x="0" y="0"/>
          <a:chExt cx="0" cy="0"/>
        </a:xfrm>
      </p:grpSpPr>
      <p:sp>
        <p:nvSpPr>
          <p:cNvPr id="15" name="Google Shape;15;p2"/>
          <p:cNvSpPr txBox="1">
            <a:spLocks noGrp="1"/>
          </p:cNvSpPr>
          <p:nvPr>
            <p:ph type="ctrTitle"/>
          </p:nvPr>
        </p:nvSpPr>
        <p:spPr>
          <a:xfrm>
            <a:off x="1524000" y="734056"/>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3600"/>
              <a:buFont typeface="Arial Black"/>
              <a:buNone/>
              <a:defRPr sz="3600" cap="none">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2"/>
          <p:cNvSpPr txBox="1">
            <a:spLocks noGrp="1"/>
          </p:cNvSpPr>
          <p:nvPr>
            <p:ph type="subTitle" idx="1"/>
          </p:nvPr>
        </p:nvSpPr>
        <p:spPr>
          <a:xfrm>
            <a:off x="1524000" y="3313939"/>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2"/>
          <p:cNvSpPr txBox="1">
            <a:spLocks noGrp="1"/>
          </p:cNvSpPr>
          <p:nvPr>
            <p:ph type="sldNum" idx="12"/>
          </p:nvPr>
        </p:nvSpPr>
        <p:spPr>
          <a:xfrm>
            <a:off x="838200" y="5991633"/>
            <a:ext cx="2587831"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pic>
        <p:nvPicPr>
          <p:cNvPr id="18" name="Google Shape;18;p2"/>
          <p:cNvPicPr preferRelativeResize="0"/>
          <p:nvPr/>
        </p:nvPicPr>
        <p:blipFill rotWithShape="1">
          <a:blip r:embed="rId2">
            <a:alphaModFix/>
          </a:blip>
          <a:srcRect/>
          <a:stretch/>
        </p:blipFill>
        <p:spPr>
          <a:xfrm>
            <a:off x="4674805" y="4461832"/>
            <a:ext cx="2842389" cy="189492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6"/>
        <p:cNvGrpSpPr/>
        <p:nvPr/>
      </p:nvGrpSpPr>
      <p:grpSpPr>
        <a:xfrm>
          <a:off x="0" y="0"/>
          <a:ext cx="0" cy="0"/>
          <a:chOff x="0" y="0"/>
          <a:chExt cx="0" cy="0"/>
        </a:xfrm>
      </p:grpSpPr>
      <p:sp>
        <p:nvSpPr>
          <p:cNvPr id="27" name="Google Shape;27;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3600"/>
              <a:buFont typeface="Arial Black"/>
              <a:buNone/>
              <a:defRPr sz="3600" cap="none">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5"/>
          <p:cNvSpPr txBox="1">
            <a:spLocks noGrp="1"/>
          </p:cNvSpPr>
          <p:nvPr>
            <p:ph type="body" idx="1"/>
          </p:nvPr>
        </p:nvSpPr>
        <p:spPr>
          <a:xfrm>
            <a:off x="838200" y="1825625"/>
            <a:ext cx="5181600" cy="4043761"/>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1000"/>
              </a:spcBef>
              <a:spcAft>
                <a:spcPts val="0"/>
              </a:spcAft>
              <a:buClr>
                <a:schemeClr val="dk1"/>
              </a:buClr>
              <a:buSzPts val="2800"/>
              <a:buChar char="•"/>
              <a:defRPr/>
            </a:lvl1pPr>
            <a:lvl2pPr marL="914400" lvl="1" indent="-381000" algn="l">
              <a:lnSpc>
                <a:spcPct val="100000"/>
              </a:lnSpc>
              <a:spcBef>
                <a:spcPts val="500"/>
              </a:spcBef>
              <a:spcAft>
                <a:spcPts val="0"/>
              </a:spcAft>
              <a:buClr>
                <a:schemeClr val="dk1"/>
              </a:buClr>
              <a:buSzPts val="2400"/>
              <a:buChar char="•"/>
              <a:defRPr/>
            </a:lvl2pPr>
            <a:lvl3pPr marL="1371600" lvl="2" indent="-355600" algn="l">
              <a:lnSpc>
                <a:spcPct val="100000"/>
              </a:lnSpc>
              <a:spcBef>
                <a:spcPts val="500"/>
              </a:spcBef>
              <a:spcAft>
                <a:spcPts val="0"/>
              </a:spcAft>
              <a:buClr>
                <a:schemeClr val="dk1"/>
              </a:buClr>
              <a:buSzPts val="20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5"/>
          <p:cNvSpPr txBox="1">
            <a:spLocks noGrp="1"/>
          </p:cNvSpPr>
          <p:nvPr>
            <p:ph type="body" idx="2"/>
          </p:nvPr>
        </p:nvSpPr>
        <p:spPr>
          <a:xfrm>
            <a:off x="6172200" y="1825625"/>
            <a:ext cx="5181600" cy="4043761"/>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1000"/>
              </a:spcBef>
              <a:spcAft>
                <a:spcPts val="0"/>
              </a:spcAft>
              <a:buClr>
                <a:schemeClr val="dk1"/>
              </a:buClr>
              <a:buSzPts val="2800"/>
              <a:buChar char="•"/>
              <a:defRPr/>
            </a:lvl1pPr>
            <a:lvl2pPr marL="914400" lvl="1" indent="-381000" algn="l">
              <a:lnSpc>
                <a:spcPct val="100000"/>
              </a:lnSpc>
              <a:spcBef>
                <a:spcPts val="500"/>
              </a:spcBef>
              <a:spcAft>
                <a:spcPts val="0"/>
              </a:spcAft>
              <a:buClr>
                <a:schemeClr val="dk1"/>
              </a:buClr>
              <a:buSzPts val="2400"/>
              <a:buChar char="•"/>
              <a:defRPr/>
            </a:lvl2pPr>
            <a:lvl3pPr marL="1371600" lvl="2" indent="-355600" algn="l">
              <a:lnSpc>
                <a:spcPct val="100000"/>
              </a:lnSpc>
              <a:spcBef>
                <a:spcPts val="500"/>
              </a:spcBef>
              <a:spcAft>
                <a:spcPts val="0"/>
              </a:spcAft>
              <a:buClr>
                <a:schemeClr val="dk1"/>
              </a:buClr>
              <a:buSzPts val="20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5"/>
          <p:cNvSpPr txBox="1">
            <a:spLocks noGrp="1"/>
          </p:cNvSpPr>
          <p:nvPr>
            <p:ph type="ftr" idx="11"/>
          </p:nvPr>
        </p:nvSpPr>
        <p:spPr>
          <a:xfrm>
            <a:off x="4038600" y="6004323"/>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sldNum" idx="12"/>
          </p:nvPr>
        </p:nvSpPr>
        <p:spPr>
          <a:xfrm>
            <a:off x="838200" y="6004323"/>
            <a:ext cx="2688771"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ide Content">
  <p:cSld name="Side Content">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3600"/>
              <a:buFont typeface="Arial Black"/>
              <a:buNone/>
              <a:defRPr sz="3600" cap="none">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7"/>
          <p:cNvSpPr txBox="1">
            <a:spLocks noGrp="1"/>
          </p:cNvSpPr>
          <p:nvPr>
            <p:ph type="body" idx="1"/>
          </p:nvPr>
        </p:nvSpPr>
        <p:spPr>
          <a:xfrm>
            <a:off x="838200" y="1825625"/>
            <a:ext cx="5181600" cy="4043761"/>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1000"/>
              </a:spcBef>
              <a:spcAft>
                <a:spcPts val="0"/>
              </a:spcAft>
              <a:buClr>
                <a:schemeClr val="dk1"/>
              </a:buClr>
              <a:buSzPts val="2800"/>
              <a:buChar char="•"/>
              <a:defRPr/>
            </a:lvl1pPr>
            <a:lvl2pPr marL="914400" lvl="1" indent="-381000" algn="l">
              <a:lnSpc>
                <a:spcPct val="100000"/>
              </a:lnSpc>
              <a:spcBef>
                <a:spcPts val="500"/>
              </a:spcBef>
              <a:spcAft>
                <a:spcPts val="0"/>
              </a:spcAft>
              <a:buClr>
                <a:schemeClr val="dk1"/>
              </a:buClr>
              <a:buSzPts val="2400"/>
              <a:buChar char="•"/>
              <a:defRPr/>
            </a:lvl2pPr>
            <a:lvl3pPr marL="1371600" lvl="2" indent="-355600" algn="l">
              <a:lnSpc>
                <a:spcPct val="100000"/>
              </a:lnSpc>
              <a:spcBef>
                <a:spcPts val="500"/>
              </a:spcBef>
              <a:spcAft>
                <a:spcPts val="0"/>
              </a:spcAft>
              <a:buClr>
                <a:schemeClr val="dk1"/>
              </a:buClr>
              <a:buSzPts val="20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7"/>
          <p:cNvSpPr txBox="1">
            <a:spLocks noGrp="1"/>
          </p:cNvSpPr>
          <p:nvPr>
            <p:ph type="ftr" idx="11"/>
          </p:nvPr>
        </p:nvSpPr>
        <p:spPr>
          <a:xfrm>
            <a:off x="4038600" y="6004323"/>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7"/>
          <p:cNvSpPr txBox="1">
            <a:spLocks noGrp="1"/>
          </p:cNvSpPr>
          <p:nvPr>
            <p:ph type="sldNum" idx="12"/>
          </p:nvPr>
        </p:nvSpPr>
        <p:spPr>
          <a:xfrm>
            <a:off x="838200" y="6004323"/>
            <a:ext cx="2688771"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1"/>
        <p:cNvGrpSpPr/>
        <p:nvPr/>
      </p:nvGrpSpPr>
      <p:grpSpPr>
        <a:xfrm>
          <a:off x="0" y="0"/>
          <a:ext cx="0" cy="0"/>
          <a:chOff x="0" y="0"/>
          <a:chExt cx="0" cy="0"/>
        </a:xfrm>
      </p:grpSpPr>
      <p:sp>
        <p:nvSpPr>
          <p:cNvPr id="42" name="Google Shape;42;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3600"/>
              <a:buFont typeface="Arial Black"/>
              <a:buNone/>
              <a:defRPr sz="3600" cap="none">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8"/>
          <p:cNvSpPr txBox="1">
            <a:spLocks noGrp="1"/>
          </p:cNvSpPr>
          <p:nvPr>
            <p:ph type="ftr" idx="11"/>
          </p:nvPr>
        </p:nvSpPr>
        <p:spPr>
          <a:xfrm>
            <a:off x="4038600" y="6004323"/>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8"/>
          <p:cNvSpPr txBox="1">
            <a:spLocks noGrp="1"/>
          </p:cNvSpPr>
          <p:nvPr>
            <p:ph type="sldNum" idx="12"/>
          </p:nvPr>
        </p:nvSpPr>
        <p:spPr>
          <a:xfrm>
            <a:off x="838200" y="6005974"/>
            <a:ext cx="2670958"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ARTS Two Panel">
    <p:bg>
      <p:bgPr>
        <a:solidFill>
          <a:schemeClr val="bg1"/>
        </a:solidFill>
        <a:effectLst/>
      </p:bgPr>
    </p:bg>
    <p:spTree>
      <p:nvGrpSpPr>
        <p:cNvPr id="1" name=""/>
        <p:cNvGrpSpPr/>
        <p:nvPr/>
      </p:nvGrpSpPr>
      <p:grpSpPr>
        <a:xfrm>
          <a:off x="0" y="0"/>
          <a:ext cx="0" cy="0"/>
          <a:chOff x="0" y="0"/>
          <a:chExt cx="0" cy="0"/>
        </a:xfrm>
      </p:grpSpPr>
      <p:sp>
        <p:nvSpPr>
          <p:cNvPr id="4" name="Text 2"/>
          <p:cNvSpPr>
            <a:spLocks noGrp="1"/>
          </p:cNvSpPr>
          <p:nvPr>
            <p:ph type="title" idx="102" hasCustomPrompt="1"/>
          </p:nvPr>
        </p:nvSpPr>
        <p:spPr>
          <a:xfrm>
            <a:off x="868680" y="457200"/>
            <a:ext cx="10515600" cy="868680"/>
          </a:xfrm>
          <a:prstGeom prst="rect">
            <a:avLst/>
          </a:prstGeom>
          <a:noFill/>
          <a:ln/>
        </p:spPr>
        <p:txBody>
          <a:bodyPr wrap="square" rtlCol="0"/>
          <a:lstStyle>
            <a:lvl1pPr marL="0" indent="0" algn="l">
              <a:buNone/>
              <a:defRPr lang="en-US" sz="3600" dirty="0">
                <a:solidFill>
                  <a:schemeClr val="tx1"/>
                </a:solidFill>
                <a:latin typeface="Arial Black" pitchFamily="34" charset="0"/>
                <a:ea typeface="Arial Black" pitchFamily="34" charset="-122"/>
                <a:cs typeface="Arial Black" pitchFamily="34" charset="-120"/>
              </a:defRPr>
            </a:lvl1pPr>
          </a:lstStyle>
          <a:p>
            <a:pPr marL="0" indent="0" algn="l">
              <a:buNone/>
            </a:pPr>
            <a:endParaRPr lang="en-US" sz="3600" dirty="0"/>
          </a:p>
        </p:txBody>
      </p:sp>
      <p:sp>
        <p:nvSpPr>
          <p:cNvPr id="5" name="Text 2"/>
          <p:cNvSpPr>
            <a:spLocks noGrp="1"/>
          </p:cNvSpPr>
          <p:nvPr>
            <p:ph type="body" idx="103" hasCustomPrompt="1"/>
          </p:nvPr>
        </p:nvSpPr>
        <p:spPr>
          <a:xfrm>
            <a:off x="868680" y="1554480"/>
            <a:ext cx="5257800" cy="4160520"/>
          </a:xfrm>
          <a:prstGeom prst="rect">
            <a:avLst/>
          </a:prstGeom>
          <a:noFill/>
          <a:ln/>
        </p:spPr>
        <p:txBody>
          <a:bodyPr wrap="square" rtlCol="0"/>
          <a:lstStyle>
            <a:lvl1pPr marL="0" indent="0">
              <a:buNone/>
              <a:defRPr lang="en-US" sz="2200" dirty="0">
                <a:solidFill>
                  <a:schemeClr val="tx1"/>
                </a:solidFill>
                <a:latin typeface="Arial" pitchFamily="34" charset="0"/>
                <a:ea typeface="Arial" pitchFamily="34" charset="-122"/>
                <a:cs typeface="Arial" pitchFamily="34" charset="-120"/>
              </a:defRPr>
            </a:lvl1pPr>
          </a:lstStyle>
          <a:p>
            <a:pPr marL="0" indent="0">
              <a:buNone/>
            </a:pPr>
            <a:endParaRPr lang="en-US" sz="2200" dirty="0"/>
          </a:p>
        </p:txBody>
      </p:sp>
      <p:sp>
        <p:nvSpPr>
          <p:cNvPr id="25" name="Slide Number Placeholder 0"/>
          <p:cNvSpPr>
            <a:spLocks noGrp="1"/>
          </p:cNvSpPr>
          <p:nvPr>
            <p:ph type="sldNum" sz="quarter" idx="4294967295"/>
          </p:nvPr>
        </p:nvSpPr>
        <p:spPr>
          <a:xfrm>
            <a:off x="384048" y="6144768"/>
            <a:ext cx="457200" cy="32004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4"/>
                </a:solidFill>
                <a:latin typeface="Arial"/>
                <a:ea typeface="Arial"/>
                <a:cs typeface="Arial"/>
              </a:defRPr>
            </a:lvl1pPr>
          </a:lstStyle>
          <a:p>
            <a:pPr algn="l"/>
            <a:fld id="{F7021451-1387-4CA6-816F-3879F97B5CBC}" type="slidenum">
              <a:rPr lang="en-US" b="0"/>
              <a:t>‹#›</a:t>
            </a:fld>
            <a:endParaRPr lang="en-US"/>
          </a:p>
        </p:txBody>
      </p:sp>
    </p:spTree>
    <p:extLst>
      <p:ext uri="{BB962C8B-B14F-4D97-AF65-F5344CB8AC3E}">
        <p14:creationId xmlns:p14="http://schemas.microsoft.com/office/powerpoint/2010/main" val="183526547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7">
            <a:alphaModFix/>
          </a:blip>
          <a:stretch>
            <a:fillRect/>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600"/>
              <a:buFont typeface="Arial Black"/>
              <a:buNone/>
              <a:defRPr sz="3600" b="0" i="0" u="none" strike="noStrike" cap="none">
                <a:solidFill>
                  <a:schemeClr val="dk1"/>
                </a:solidFill>
                <a:latin typeface="Arial Black"/>
                <a:ea typeface="Arial Black"/>
                <a:cs typeface="Arial Black"/>
                <a:sym typeface="Arial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3992079"/>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1"/>
          <p:cNvSpPr txBox="1">
            <a:spLocks noGrp="1"/>
          </p:cNvSpPr>
          <p:nvPr>
            <p:ph type="ftr" idx="11"/>
          </p:nvPr>
        </p:nvSpPr>
        <p:spPr>
          <a:xfrm>
            <a:off x="4038600" y="6004323"/>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
          <p:cNvSpPr txBox="1">
            <a:spLocks noGrp="1"/>
          </p:cNvSpPr>
          <p:nvPr>
            <p:ph type="sldNum" idx="12"/>
          </p:nvPr>
        </p:nvSpPr>
        <p:spPr>
          <a:xfrm>
            <a:off x="838200" y="6004323"/>
            <a:ext cx="2743200" cy="365125"/>
          </a:xfrm>
          <a:prstGeom prst="rect">
            <a:avLst/>
          </a:prstGeom>
          <a:noFill/>
          <a:ln>
            <a:noFill/>
          </a:ln>
        </p:spPr>
        <p:txBody>
          <a:bodyPr spcFirstLastPara="1" wrap="square" lIns="91425" tIns="45700" rIns="91425" bIns="45700" anchor="ctr" anchorCtr="0">
            <a:noAutofit/>
          </a:bodyPr>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0" marR="0" lvl="1" indent="0" algn="l" rtl="0">
              <a:spcBef>
                <a:spcPts val="0"/>
              </a:spcBef>
              <a:buNone/>
              <a:defRPr sz="1200" b="0" i="0" u="none" strike="noStrike" cap="none">
                <a:solidFill>
                  <a:srgbClr val="888888"/>
                </a:solidFill>
                <a:latin typeface="Arial"/>
                <a:ea typeface="Arial"/>
                <a:cs typeface="Arial"/>
                <a:sym typeface="Arial"/>
              </a:defRPr>
            </a:lvl2pPr>
            <a:lvl3pPr marL="0" marR="0" lvl="2" indent="0" algn="l" rtl="0">
              <a:spcBef>
                <a:spcPts val="0"/>
              </a:spcBef>
              <a:buNone/>
              <a:defRPr sz="1200" b="0" i="0" u="none" strike="noStrike" cap="none">
                <a:solidFill>
                  <a:srgbClr val="888888"/>
                </a:solidFill>
                <a:latin typeface="Arial"/>
                <a:ea typeface="Arial"/>
                <a:cs typeface="Arial"/>
                <a:sym typeface="Arial"/>
              </a:defRPr>
            </a:lvl3pPr>
            <a:lvl4pPr marL="0" marR="0" lvl="3" indent="0" algn="l" rtl="0">
              <a:spcBef>
                <a:spcPts val="0"/>
              </a:spcBef>
              <a:buNone/>
              <a:defRPr sz="1200" b="0" i="0" u="none" strike="noStrike" cap="none">
                <a:solidFill>
                  <a:srgbClr val="888888"/>
                </a:solidFill>
                <a:latin typeface="Arial"/>
                <a:ea typeface="Arial"/>
                <a:cs typeface="Arial"/>
                <a:sym typeface="Arial"/>
              </a:defRPr>
            </a:lvl4pPr>
            <a:lvl5pPr marL="0" marR="0" lvl="4" indent="0" algn="l" rtl="0">
              <a:spcBef>
                <a:spcPts val="0"/>
              </a:spcBef>
              <a:buNone/>
              <a:defRPr sz="1200" b="0" i="0" u="none" strike="noStrike" cap="none">
                <a:solidFill>
                  <a:srgbClr val="888888"/>
                </a:solidFill>
                <a:latin typeface="Arial"/>
                <a:ea typeface="Arial"/>
                <a:cs typeface="Arial"/>
                <a:sym typeface="Arial"/>
              </a:defRPr>
            </a:lvl5pPr>
            <a:lvl6pPr marL="0" marR="0" lvl="5" indent="0" algn="l" rtl="0">
              <a:spcBef>
                <a:spcPts val="0"/>
              </a:spcBef>
              <a:buNone/>
              <a:defRPr sz="1200" b="0" i="0" u="none" strike="noStrike" cap="none">
                <a:solidFill>
                  <a:srgbClr val="888888"/>
                </a:solidFill>
                <a:latin typeface="Arial"/>
                <a:ea typeface="Arial"/>
                <a:cs typeface="Arial"/>
                <a:sym typeface="Arial"/>
              </a:defRPr>
            </a:lvl6pPr>
            <a:lvl7pPr marL="0" marR="0" lvl="6" indent="0" algn="l" rtl="0">
              <a:spcBef>
                <a:spcPts val="0"/>
              </a:spcBef>
              <a:buNone/>
              <a:defRPr sz="1200" b="0" i="0" u="none" strike="noStrike" cap="none">
                <a:solidFill>
                  <a:srgbClr val="888888"/>
                </a:solidFill>
                <a:latin typeface="Arial"/>
                <a:ea typeface="Arial"/>
                <a:cs typeface="Arial"/>
                <a:sym typeface="Arial"/>
              </a:defRPr>
            </a:lvl7pPr>
            <a:lvl8pPr marL="0" marR="0" lvl="7" indent="0" algn="l" rtl="0">
              <a:spcBef>
                <a:spcPts val="0"/>
              </a:spcBef>
              <a:buNone/>
              <a:defRPr sz="1200" b="0" i="0" u="none" strike="noStrike" cap="none">
                <a:solidFill>
                  <a:srgbClr val="888888"/>
                </a:solidFill>
                <a:latin typeface="Arial"/>
                <a:ea typeface="Arial"/>
                <a:cs typeface="Arial"/>
                <a:sym typeface="Arial"/>
              </a:defRPr>
            </a:lvl8pPr>
            <a:lvl9pPr marL="0" marR="0" lvl="8" indent="0" algn="l" rtl="0">
              <a:spcBef>
                <a:spcPts val="0"/>
              </a:spcBef>
              <a:buNone/>
              <a:defRPr sz="1200" b="0" i="0" u="none" strike="noStrike" cap="none">
                <a:solidFill>
                  <a:srgbClr val="888888"/>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3" r:id="rId3"/>
    <p:sldLayoutId id="2147483654" r:id="rId4"/>
    <p:sldLayoutId id="2147483659"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hyperlink" Target="https://github.com/docling-project/docling.git" TargetMode="External"/><Relationship Id="rId5" Type="http://schemas.openxmlformats.org/officeDocument/2006/relationships/hyperlink" Target="https://github.com/datalab-to/marker.git" TargetMode="Externa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doi.org/10.48550/arXiv.2408.09869" TargetMode="Externa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 Id="rId5" Type="http://schemas.openxmlformats.org/officeDocument/2006/relationships/hyperlink" Target="https://doi.org/10.3390/axioms15010032" TargetMode="Externa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hyperlink" Target="https://doi.org/10.1038/s41598-025-91074-0?utm_source=chatgpt.com" TargetMode="External"/><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0.gif"/><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8"/>
        <p:cNvGrpSpPr/>
        <p:nvPr/>
      </p:nvGrpSpPr>
      <p:grpSpPr>
        <a:xfrm>
          <a:off x="0" y="0"/>
          <a:ext cx="0" cy="0"/>
          <a:chOff x="0" y="0"/>
          <a:chExt cx="0" cy="0"/>
        </a:xfrm>
      </p:grpSpPr>
      <p:sp>
        <p:nvSpPr>
          <p:cNvPr id="49" name="Google Shape;49;p9"/>
          <p:cNvSpPr txBox="1">
            <a:spLocks noGrp="1"/>
          </p:cNvSpPr>
          <p:nvPr>
            <p:ph type="ctrTitle"/>
          </p:nvPr>
        </p:nvSpPr>
        <p:spPr>
          <a:xfrm>
            <a:off x="1524000" y="734056"/>
            <a:ext cx="9144000" cy="2387600"/>
          </a:xfrm>
          <a:prstGeom prst="rect">
            <a:avLst/>
          </a:prstGeom>
          <a:noFill/>
          <a:ln>
            <a:noFill/>
          </a:ln>
        </p:spPr>
        <p:txBody>
          <a:bodyPr spcFirstLastPara="1" wrap="square" lIns="91425" tIns="45700" rIns="91425" bIns="45700" anchor="b" anchorCtr="0">
            <a:normAutofit/>
          </a:bodyPr>
          <a:lstStyle/>
          <a:p>
            <a:pPr lvl="0"/>
            <a:r>
              <a:rPr lang="en-US" dirty="0"/>
              <a:t>Traceable Retrieval and Citation Engine (</a:t>
            </a:r>
            <a:r>
              <a:rPr lang="en-US" b="1" dirty="0"/>
              <a:t>TRACE</a:t>
            </a:r>
            <a:r>
              <a:rPr lang="en-US" dirty="0"/>
              <a:t>)</a:t>
            </a:r>
            <a:endParaRPr dirty="0"/>
          </a:p>
        </p:txBody>
      </p:sp>
      <p:sp>
        <p:nvSpPr>
          <p:cNvPr id="50" name="Google Shape;50;p9"/>
          <p:cNvSpPr txBox="1">
            <a:spLocks noGrp="1"/>
          </p:cNvSpPr>
          <p:nvPr>
            <p:ph type="subTitle" idx="1"/>
          </p:nvPr>
        </p:nvSpPr>
        <p:spPr>
          <a:xfrm>
            <a:off x="1524000" y="3307545"/>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dirty="0"/>
              <a:t>Toward a high-trust, locally deployed scientific agent</a:t>
            </a:r>
          </a:p>
          <a:p>
            <a:pPr marL="0" lvl="0" indent="0" algn="ctr" rtl="0">
              <a:lnSpc>
                <a:spcPct val="90000"/>
              </a:lnSpc>
              <a:spcBef>
                <a:spcPts val="0"/>
              </a:spcBef>
              <a:spcAft>
                <a:spcPts val="0"/>
              </a:spcAft>
              <a:buClr>
                <a:schemeClr val="dk1"/>
              </a:buClr>
              <a:buSzPts val="2400"/>
              <a:buNone/>
            </a:pPr>
            <a:endParaRPr lang="en-US" dirty="0"/>
          </a:p>
          <a:p>
            <a:pPr marL="0" lvl="0" indent="0" algn="ctr" rtl="0">
              <a:lnSpc>
                <a:spcPct val="90000"/>
              </a:lnSpc>
              <a:spcBef>
                <a:spcPts val="0"/>
              </a:spcBef>
              <a:spcAft>
                <a:spcPts val="0"/>
              </a:spcAft>
              <a:buClr>
                <a:schemeClr val="dk1"/>
              </a:buClr>
              <a:buSzPts val="2400"/>
              <a:buNone/>
            </a:pPr>
            <a:r>
              <a:rPr lang="en-US" sz="2000" dirty="0"/>
              <a:t>Thienan Hoang and Austin R.J. Downey and Kerry Sado</a:t>
            </a:r>
          </a:p>
          <a:p>
            <a:pPr marL="0" lvl="0" indent="0" algn="ctr" rtl="0">
              <a:lnSpc>
                <a:spcPct val="90000"/>
              </a:lnSpc>
              <a:spcBef>
                <a:spcPts val="0"/>
              </a:spcBef>
              <a:spcAft>
                <a:spcPts val="0"/>
              </a:spcAft>
              <a:buClr>
                <a:schemeClr val="dk1"/>
              </a:buClr>
              <a:buSzPts val="2400"/>
              <a:buNone/>
            </a:pPr>
            <a:endParaRPr dirty="0"/>
          </a:p>
        </p:txBody>
      </p:sp>
      <p:sp>
        <p:nvSpPr>
          <p:cNvPr id="51" name="Google Shape;51;p9"/>
          <p:cNvSpPr txBox="1">
            <a:spLocks noGrp="1"/>
          </p:cNvSpPr>
          <p:nvPr>
            <p:ph type="sldNum" idx="12"/>
          </p:nvPr>
        </p:nvSpPr>
        <p:spPr>
          <a:xfrm>
            <a:off x="838200" y="5991633"/>
            <a:ext cx="2587831"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prstGeom prst="rect">
            <a:avLst/>
          </a:prstGeom>
          <a:noFill/>
          <a:ln/>
        </p:spPr>
        <p:txBody>
          <a:bodyPr wrap="square" lIns="0" tIns="0" rIns="0" bIns="0" rtlCol="0" anchor="ctr"/>
          <a:lstStyle/>
          <a:p>
            <a:pPr marL="0" indent="0" algn="l">
              <a:buNone/>
            </a:pPr>
            <a:r>
              <a:rPr lang="en-US" sz="3600" dirty="0">
                <a:solidFill>
                  <a:schemeClr val="tx1"/>
                </a:solidFill>
                <a:latin typeface="Arial Black" pitchFamily="34" charset="0"/>
                <a:ea typeface="Arial Black" pitchFamily="34" charset="-122"/>
                <a:cs typeface="Arial Black" pitchFamily="34" charset="-120"/>
              </a:rPr>
              <a:t>A High-Trust Scientific Agent</a:t>
            </a:r>
            <a:endParaRPr lang="en-US" sz="3600" dirty="0"/>
          </a:p>
        </p:txBody>
      </p:sp>
      <p:sp>
        <p:nvSpPr>
          <p:cNvPr id="3" name="Text 2"/>
          <p:cNvSpPr>
            <a:spLocks noGrp="1"/>
          </p:cNvSpPr>
          <p:nvPr>
            <p:ph type="body" idx="1"/>
          </p:nvPr>
        </p:nvSpPr>
        <p:spPr>
          <a:prstGeom prst="rect">
            <a:avLst/>
          </a:prstGeom>
          <a:noFill/>
          <a:ln/>
        </p:spPr>
        <p:txBody>
          <a:bodyPr wrap="square" rtlCol="0" anchor="t"/>
          <a:lstStyle/>
          <a:p>
            <a:pPr marL="342900" indent="-342900">
              <a:spcAft>
                <a:spcPts val="800"/>
              </a:spcAft>
              <a:buSzPct val="100000"/>
              <a:buChar char="•"/>
            </a:pPr>
            <a:r>
              <a:rPr lang="en-US" sz="2200" dirty="0">
                <a:solidFill>
                  <a:schemeClr val="tx1"/>
                </a:solidFill>
                <a:latin typeface="Arial" pitchFamily="34" charset="0"/>
                <a:ea typeface="Arial" pitchFamily="34" charset="-122"/>
                <a:cs typeface="Arial" pitchFamily="34" charset="-120"/>
              </a:rPr>
              <a:t>An agent that reads our papers, reports, and data, then answers with sources</a:t>
            </a:r>
            <a:endParaRPr lang="en-US" sz="2200" dirty="0"/>
          </a:p>
          <a:p>
            <a:pPr marL="342900" indent="-342900">
              <a:spcBef>
                <a:spcPts val="600"/>
              </a:spcBef>
              <a:spcAft>
                <a:spcPts val="800"/>
              </a:spcAft>
              <a:buSzPct val="100000"/>
              <a:buChar char="•"/>
            </a:pPr>
            <a:r>
              <a:rPr lang="en-US" sz="2200" dirty="0">
                <a:solidFill>
                  <a:schemeClr val="tx1"/>
                </a:solidFill>
                <a:latin typeface="Arial" pitchFamily="34" charset="0"/>
                <a:ea typeface="Arial" pitchFamily="34" charset="-122"/>
                <a:cs typeface="Arial" pitchFamily="34" charset="-120"/>
              </a:rPr>
              <a:t>High trust = traceable and repeatable</a:t>
            </a:r>
            <a:endParaRPr lang="en-US" sz="2200" dirty="0"/>
          </a:p>
          <a:p>
            <a:pPr marL="685800" lvl="1" indent="-342900">
              <a:spcAft>
                <a:spcPts val="400"/>
              </a:spcAft>
              <a:buSzPct val="100000"/>
              <a:buChar char="•"/>
            </a:pPr>
            <a:r>
              <a:rPr lang="en-US" sz="1800" dirty="0">
                <a:solidFill>
                  <a:schemeClr val="tx1"/>
                </a:solidFill>
                <a:latin typeface="Arial" pitchFamily="34" charset="0"/>
                <a:ea typeface="Arial" pitchFamily="34" charset="-122"/>
                <a:cs typeface="Arial" pitchFamily="34" charset="-120"/>
              </a:rPr>
              <a:t>Same question, same cited answer, today and decades from now</a:t>
            </a:r>
            <a:endParaRPr lang="en-US" sz="2200" dirty="0"/>
          </a:p>
          <a:p>
            <a:pPr marL="342900" indent="-342900">
              <a:spcBef>
                <a:spcPts val="600"/>
              </a:spcBef>
              <a:spcAft>
                <a:spcPts val="800"/>
              </a:spcAft>
              <a:buSzPct val="100000"/>
              <a:buChar char="•"/>
            </a:pPr>
            <a:r>
              <a:rPr lang="en-US" sz="2200" dirty="0">
                <a:solidFill>
                  <a:schemeClr val="tx1"/>
                </a:solidFill>
                <a:latin typeface="Arial" pitchFamily="34" charset="0"/>
                <a:ea typeface="Arial" pitchFamily="34" charset="-122"/>
                <a:cs typeface="Arial" pitchFamily="34" charset="-120"/>
              </a:rPr>
              <a:t>We build it ourselves so we know what every step does</a:t>
            </a:r>
            <a:endParaRPr lang="en-US" sz="2200" dirty="0"/>
          </a:p>
          <a:p>
            <a:pPr marL="685800" lvl="1" indent="-342900">
              <a:spcAft>
                <a:spcPts val="400"/>
              </a:spcAft>
              <a:buSzPct val="100000"/>
              <a:buChar char="•"/>
            </a:pPr>
            <a:r>
              <a:rPr lang="en-US" sz="1800" dirty="0">
                <a:solidFill>
                  <a:schemeClr val="tx1"/>
                </a:solidFill>
                <a:latin typeface="Arial" pitchFamily="34" charset="0"/>
                <a:ea typeface="Arial" pitchFamily="34" charset="-122"/>
                <a:cs typeface="Arial" pitchFamily="34" charset="-120"/>
              </a:rPr>
              <a:t>Parser, database, model, and tools are all inspectable</a:t>
            </a:r>
            <a:endParaRPr lang="en-US" sz="2200" dirty="0"/>
          </a:p>
        </p:txBody>
      </p:sp>
      <p:sp>
        <p:nvSpPr>
          <p:cNvPr id="25" name="Slide Number Placeholder 0"/>
          <p:cNvSpPr>
            <a:spLocks noGrp="1"/>
          </p:cNvSpPr>
          <p:nvPr>
            <p:ph type="sldNum" idx="12"/>
          </p:nvPr>
        </p:nvSpPr>
        <p:spPr>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4"/>
                </a:solidFill>
                <a:latin typeface="Arial"/>
                <a:ea typeface="Arial"/>
                <a:cs typeface="Aria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srgbClr val="8C8C8C"/>
                </a:solidFill>
                <a:effectLst/>
                <a:uLnTx/>
                <a:uFillTx/>
                <a:latin typeface="Arial"/>
                <a:cs typeface="Arial"/>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srgbClr val="8C8C8C"/>
              </a:solidFill>
              <a:effectLst/>
              <a:uLnTx/>
              <a:uFillTx/>
              <a:latin typeface="Arial"/>
              <a:cs typeface="Arial"/>
            </a:endParaRPr>
          </a:p>
        </p:txBody>
      </p:sp>
      <p:sp>
        <p:nvSpPr>
          <p:cNvPr id="4" name="Pillar 1"/>
          <p:cNvSpPr/>
          <p:nvPr/>
        </p:nvSpPr>
        <p:spPr>
          <a:xfrm>
            <a:off x="7625614" y="1642745"/>
            <a:ext cx="3859731" cy="1280160"/>
          </a:xfrm>
          <a:prstGeom prst="roundRect">
            <a:avLst>
              <a:gd name="adj" fmla="val 5714"/>
            </a:avLst>
          </a:prstGeom>
          <a:noFill/>
          <a:ln>
            <a:solidFill>
              <a:schemeClr val="tx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kern="1200" dirty="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7" name="Text 5"/>
          <p:cNvSpPr txBox="1"/>
          <p:nvPr/>
        </p:nvSpPr>
        <p:spPr>
          <a:xfrm>
            <a:off x="7787640" y="1825625"/>
            <a:ext cx="35661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Cites its sources</a:t>
            </a:r>
            <a:endParaRPr kumimoji="0" lang="en-US" sz="1900" b="0" i="0" u="none" strike="noStrike" kern="1200" cap="none" spc="0" normalizeH="0" baseline="0" noProof="0" dirty="0">
              <a:ln>
                <a:noFill/>
              </a:ln>
              <a:solidFill>
                <a:srgbClr val="000000"/>
              </a:solidFill>
              <a:effectLst/>
              <a:uLnTx/>
              <a:uFillTx/>
              <a:latin typeface="Arial"/>
              <a:ea typeface="+mn-ea"/>
              <a:cs typeface="+mn-cs"/>
            </a:endParaRPr>
          </a:p>
        </p:txBody>
      </p:sp>
      <p:sp>
        <p:nvSpPr>
          <p:cNvPr id="8" name="Text 6"/>
          <p:cNvSpPr txBox="1"/>
          <p:nvPr/>
        </p:nvSpPr>
        <p:spPr>
          <a:xfrm>
            <a:off x="7787640" y="2227961"/>
            <a:ext cx="3566160"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Arial" pitchFamily="34" charset="0"/>
                <a:ea typeface="Arial" pitchFamily="34" charset="-122"/>
                <a:cs typeface="Arial" pitchFamily="34" charset="-120"/>
              </a:rPr>
              <a:t>Every claim links to the document, page, and verbatim text</a:t>
            </a:r>
            <a:endParaRPr kumimoji="0" lang="en-US" sz="1400" b="0" i="0" u="none" strike="noStrike" kern="1200" cap="none" spc="0" normalizeH="0" baseline="0" noProof="0" dirty="0">
              <a:ln>
                <a:noFill/>
              </a:ln>
              <a:solidFill>
                <a:schemeClr val="tx1"/>
              </a:solidFill>
              <a:effectLst/>
              <a:uLnTx/>
              <a:uFillTx/>
              <a:latin typeface="Arial"/>
              <a:ea typeface="+mn-ea"/>
              <a:cs typeface="+mn-cs"/>
            </a:endParaRPr>
          </a:p>
        </p:txBody>
      </p:sp>
      <p:sp>
        <p:nvSpPr>
          <p:cNvPr id="9" name="Pillar 2"/>
          <p:cNvSpPr/>
          <p:nvPr/>
        </p:nvSpPr>
        <p:spPr>
          <a:xfrm>
            <a:off x="7625614" y="3151505"/>
            <a:ext cx="3859731" cy="1280160"/>
          </a:xfrm>
          <a:prstGeom prst="roundRect">
            <a:avLst>
              <a:gd name="adj" fmla="val 5714"/>
            </a:avLst>
          </a:prstGeom>
          <a:noFill/>
          <a:ln>
            <a:solidFill>
              <a:schemeClr val="tx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2" name="Text 10"/>
          <p:cNvSpPr txBox="1"/>
          <p:nvPr/>
        </p:nvSpPr>
        <p:spPr>
          <a:xfrm>
            <a:off x="7787640" y="3334385"/>
            <a:ext cx="35661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Parses science faithfully</a:t>
            </a:r>
            <a:endParaRPr kumimoji="0" lang="en-US" sz="1900" b="0" i="0" u="none" strike="noStrike" kern="1200" cap="none" spc="0" normalizeH="0" baseline="0" noProof="0" dirty="0">
              <a:ln>
                <a:noFill/>
              </a:ln>
              <a:solidFill>
                <a:srgbClr val="000000"/>
              </a:solidFill>
              <a:effectLst/>
              <a:uLnTx/>
              <a:uFillTx/>
              <a:latin typeface="Arial"/>
              <a:ea typeface="+mn-ea"/>
              <a:cs typeface="+mn-cs"/>
            </a:endParaRPr>
          </a:p>
        </p:txBody>
      </p:sp>
      <p:sp>
        <p:nvSpPr>
          <p:cNvPr id="13" name="Text 11"/>
          <p:cNvSpPr txBox="1"/>
          <p:nvPr/>
        </p:nvSpPr>
        <p:spPr>
          <a:xfrm>
            <a:off x="7787640" y="3736721"/>
            <a:ext cx="3566160"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Arial" pitchFamily="34" charset="0"/>
                <a:ea typeface="Arial" pitchFamily="34" charset="-122"/>
                <a:cs typeface="Arial" pitchFamily="34" charset="-120"/>
              </a:rPr>
              <a:t>Tables, figures, equations, and references survive ingestion</a:t>
            </a:r>
            <a:endParaRPr kumimoji="0" lang="en-US" sz="1400" b="0" i="0" u="none" strike="noStrike" kern="1200" cap="none" spc="0" normalizeH="0" baseline="0" noProof="0" dirty="0">
              <a:ln>
                <a:noFill/>
              </a:ln>
              <a:solidFill>
                <a:schemeClr val="tx1"/>
              </a:solidFill>
              <a:effectLst/>
              <a:uLnTx/>
              <a:uFillTx/>
              <a:latin typeface="Arial"/>
              <a:ea typeface="+mn-ea"/>
              <a:cs typeface="+mn-cs"/>
            </a:endParaRPr>
          </a:p>
        </p:txBody>
      </p:sp>
      <p:sp>
        <p:nvSpPr>
          <p:cNvPr id="14" name="Pillar 3"/>
          <p:cNvSpPr/>
          <p:nvPr/>
        </p:nvSpPr>
        <p:spPr>
          <a:xfrm>
            <a:off x="7625614" y="4660265"/>
            <a:ext cx="3859731" cy="1280160"/>
          </a:xfrm>
          <a:prstGeom prst="roundRect">
            <a:avLst>
              <a:gd name="adj" fmla="val 5714"/>
            </a:avLst>
          </a:prstGeom>
          <a:noFill/>
          <a:ln>
            <a:solidFill>
              <a:schemeClr val="tx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7" name="Text 15"/>
          <p:cNvSpPr txBox="1"/>
          <p:nvPr/>
        </p:nvSpPr>
        <p:spPr>
          <a:xfrm>
            <a:off x="7787640" y="4843145"/>
            <a:ext cx="35661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Frozen and local</a:t>
            </a:r>
            <a:endParaRPr kumimoji="0" lang="en-US" sz="1900" b="0" i="0" u="none" strike="noStrike" kern="1200" cap="none" spc="0" normalizeH="0" baseline="0" noProof="0" dirty="0">
              <a:ln>
                <a:noFill/>
              </a:ln>
              <a:solidFill>
                <a:srgbClr val="000000"/>
              </a:solidFill>
              <a:effectLst/>
              <a:uLnTx/>
              <a:uFillTx/>
              <a:latin typeface="Arial"/>
              <a:ea typeface="+mn-ea"/>
              <a:cs typeface="+mn-cs"/>
            </a:endParaRPr>
          </a:p>
        </p:txBody>
      </p:sp>
      <p:sp>
        <p:nvSpPr>
          <p:cNvPr id="18" name="Text 16"/>
          <p:cNvSpPr txBox="1"/>
          <p:nvPr/>
        </p:nvSpPr>
        <p:spPr>
          <a:xfrm>
            <a:off x="7787640" y="5245481"/>
            <a:ext cx="3566160"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Arial" pitchFamily="34" charset="0"/>
                <a:ea typeface="Arial" pitchFamily="34" charset="-122"/>
                <a:cs typeface="Arial" pitchFamily="34" charset="-120"/>
              </a:rPr>
              <a:t>Same weights, same answer. No vendor can change the model on us</a:t>
            </a:r>
            <a:endParaRPr kumimoji="0" lang="en-US" sz="1400" b="0" i="0" u="none" strike="noStrike" kern="1200" cap="none" spc="0" normalizeH="0" baseline="0" noProof="0" dirty="0">
              <a:ln>
                <a:noFill/>
              </a:ln>
              <a:solidFill>
                <a:schemeClr val="tx1"/>
              </a:solidFill>
              <a:effectLst/>
              <a:uLnTx/>
              <a:uFillTx/>
              <a:latin typeface="Arial"/>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hasCustomPrompt="1"/>
          </p:nvPr>
        </p:nvSpPr>
        <p:spPr>
          <a:prstGeom prst="rect">
            <a:avLst/>
          </a:prstGeom>
          <a:noFill/>
          <a:ln/>
        </p:spPr>
        <p:txBody>
          <a:bodyPr wrap="square" lIns="0" tIns="0" rIns="0" bIns="0" rtlCol="0" anchor="ctr"/>
          <a:lstStyle/>
          <a:p>
            <a:pPr marL="0" indent="0" algn="l">
              <a:buNone/>
            </a:pPr>
            <a:r>
              <a:rPr lang="en-US" sz="3600" dirty="0">
                <a:solidFill>
                  <a:schemeClr val="tx1"/>
                </a:solidFill>
                <a:latin typeface="Arial Black" pitchFamily="34" charset="0"/>
                <a:ea typeface="Arial Black" pitchFamily="34" charset="-122"/>
                <a:cs typeface="Arial Black" pitchFamily="34" charset="-120"/>
              </a:rPr>
              <a:t>Packaged to Run for Decades</a:t>
            </a:r>
            <a:endParaRPr lang="en-US" sz="3600" dirty="0"/>
          </a:p>
        </p:txBody>
      </p:sp>
      <p:sp>
        <p:nvSpPr>
          <p:cNvPr id="3" name="Text 2"/>
          <p:cNvSpPr>
            <a:spLocks noGrp="1"/>
          </p:cNvSpPr>
          <p:nvPr>
            <p:ph type="body" idx="1" hasCustomPrompt="1"/>
          </p:nvPr>
        </p:nvSpPr>
        <p:spPr>
          <a:prstGeom prst="rect">
            <a:avLst/>
          </a:prstGeom>
          <a:noFill/>
          <a:ln/>
        </p:spPr>
        <p:txBody>
          <a:bodyPr wrap="square" rtlCol="0" anchor="t">
            <a:normAutofit lnSpcReduction="10000"/>
          </a:bodyPr>
          <a:lstStyle/>
          <a:p>
            <a:pPr marL="342900" indent="-342900">
              <a:spcAft>
                <a:spcPts val="800"/>
              </a:spcAft>
              <a:buSzPct val="100000"/>
              <a:buChar char="•"/>
            </a:pPr>
            <a:r>
              <a:rPr lang="en-US" sz="2200" dirty="0">
                <a:solidFill>
                  <a:schemeClr val="tx1"/>
                </a:solidFill>
                <a:latin typeface="Arial" pitchFamily="34" charset="0"/>
                <a:ea typeface="Arial" pitchFamily="34" charset="-122"/>
                <a:cs typeface="Arial" pitchFamily="34" charset="-120"/>
              </a:rPr>
              <a:t>One container holds everything</a:t>
            </a:r>
            <a:endParaRPr lang="en-US" sz="2200" dirty="0"/>
          </a:p>
          <a:p>
            <a:pPr marL="685800" lvl="1" indent="-342900">
              <a:spcAft>
                <a:spcPts val="400"/>
              </a:spcAft>
              <a:buSzPct val="100000"/>
              <a:buChar char="•"/>
            </a:pPr>
            <a:r>
              <a:rPr lang="en-US" sz="1800" dirty="0">
                <a:solidFill>
                  <a:schemeClr val="tx1"/>
                </a:solidFill>
                <a:latin typeface="Arial" pitchFamily="34" charset="0"/>
                <a:ea typeface="Arial" pitchFamily="34" charset="-122"/>
                <a:cs typeface="Arial" pitchFamily="34" charset="-120"/>
              </a:rPr>
              <a:t>Model weights, runtime, parsers, database, agent code</a:t>
            </a:r>
            <a:endParaRPr lang="en-US" sz="2200" dirty="0"/>
          </a:p>
          <a:p>
            <a:pPr marL="342900" indent="-342900">
              <a:spcBef>
                <a:spcPts val="600"/>
              </a:spcBef>
              <a:spcAft>
                <a:spcPts val="800"/>
              </a:spcAft>
              <a:buSzPct val="100000"/>
              <a:buChar char="•"/>
            </a:pPr>
            <a:r>
              <a:rPr lang="en-US" sz="2200" dirty="0">
                <a:solidFill>
                  <a:schemeClr val="tx1"/>
                </a:solidFill>
                <a:latin typeface="Arial" pitchFamily="34" charset="0"/>
                <a:ea typeface="Arial" pitchFamily="34" charset="-122"/>
                <a:cs typeface="Arial" pitchFamily="34" charset="-120"/>
              </a:rPr>
              <a:t>Pinned versions, fixed seed, zero temperature</a:t>
            </a:r>
            <a:endParaRPr lang="en-US" sz="2200" dirty="0"/>
          </a:p>
          <a:p>
            <a:pPr marL="685800" lvl="1" indent="-342900">
              <a:spcAft>
                <a:spcPts val="400"/>
              </a:spcAft>
              <a:buSzPct val="100000"/>
              <a:buChar char="•"/>
            </a:pPr>
            <a:r>
              <a:rPr lang="en-US" sz="1800" dirty="0">
                <a:solidFill>
                  <a:schemeClr val="tx1"/>
                </a:solidFill>
                <a:latin typeface="Arial" pitchFamily="34" charset="0"/>
                <a:ea typeface="Arial" pitchFamily="34" charset="-122"/>
                <a:cs typeface="Arial" pitchFamily="34" charset="-120"/>
              </a:rPr>
              <a:t>Same query, same answer</a:t>
            </a:r>
            <a:endParaRPr lang="en-US" sz="2200" dirty="0"/>
          </a:p>
          <a:p>
            <a:pPr marL="342900" indent="-342900">
              <a:spcBef>
                <a:spcPts val="600"/>
              </a:spcBef>
              <a:spcAft>
                <a:spcPts val="800"/>
              </a:spcAft>
              <a:buSzPct val="100000"/>
              <a:buChar char="•"/>
            </a:pPr>
            <a:r>
              <a:rPr lang="en-US" sz="2200" dirty="0">
                <a:solidFill>
                  <a:schemeClr val="tx1"/>
                </a:solidFill>
                <a:latin typeface="Arial" pitchFamily="34" charset="0"/>
                <a:ea typeface="Arial" pitchFamily="34" charset="-122"/>
                <a:cs typeface="Arial" pitchFamily="34" charset="-120"/>
              </a:rPr>
              <a:t>Archive it with the project record</a:t>
            </a:r>
            <a:endParaRPr lang="en-US" sz="2200" dirty="0"/>
          </a:p>
          <a:p>
            <a:pPr marL="685800" lvl="1" indent="-342900">
              <a:spcAft>
                <a:spcPts val="400"/>
              </a:spcAft>
              <a:buSzPct val="100000"/>
              <a:buChar char="•"/>
            </a:pPr>
            <a:r>
              <a:rPr lang="en-US" sz="1800" dirty="0">
                <a:solidFill>
                  <a:schemeClr val="tx1"/>
                </a:solidFill>
                <a:latin typeface="Arial" pitchFamily="34" charset="0"/>
                <a:ea typeface="Arial" pitchFamily="34" charset="-122"/>
                <a:cs typeface="Arial" pitchFamily="34" charset="-120"/>
              </a:rPr>
              <a:t>Reopen and rerun in 10 to 20 years</a:t>
            </a:r>
            <a:endParaRPr lang="en-US" sz="2200" dirty="0"/>
          </a:p>
          <a:p>
            <a:pPr marL="342900" indent="-342900">
              <a:spcBef>
                <a:spcPts val="600"/>
              </a:spcBef>
              <a:spcAft>
                <a:spcPts val="800"/>
              </a:spcAft>
              <a:buSzPct val="100000"/>
              <a:buChar char="•"/>
            </a:pPr>
            <a:r>
              <a:rPr lang="en-US" sz="2200" dirty="0">
                <a:solidFill>
                  <a:schemeClr val="tx1"/>
                </a:solidFill>
                <a:latin typeface="Arial" pitchFamily="34" charset="0"/>
                <a:ea typeface="Arial" pitchFamily="34" charset="-122"/>
                <a:cs typeface="Arial" pitchFamily="34" charset="-120"/>
              </a:rPr>
              <a:t>Live web tools stay outside the archive</a:t>
            </a:r>
            <a:endParaRPr lang="en-US" sz="2200" dirty="0"/>
          </a:p>
        </p:txBody>
      </p:sp>
      <p:sp>
        <p:nvSpPr>
          <p:cNvPr id="25" name="Slide Number Placeholder 0"/>
          <p:cNvSpPr>
            <a:spLocks noGrp="1"/>
          </p:cNvSpPr>
          <p:nvPr>
            <p:ph type="sldNum" idx="12"/>
          </p:nvPr>
        </p:nvSpPr>
        <p:spPr>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4"/>
                </a:solidFill>
                <a:latin typeface="Arial"/>
                <a:ea typeface="Arial"/>
                <a:cs typeface="Aria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srgbClr val="8C8C8C"/>
                </a:solidFill>
                <a:effectLst/>
                <a:uLnTx/>
                <a:uFillTx/>
                <a:latin typeface="Arial"/>
                <a:cs typeface="Arial"/>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srgbClr val="8C8C8C"/>
              </a:solidFill>
              <a:effectLst/>
              <a:uLnTx/>
              <a:uFillTx/>
              <a:latin typeface="Arial"/>
              <a:cs typeface="Arial"/>
            </a:endParaRPr>
          </a:p>
        </p:txBody>
      </p:sp>
      <p:sp>
        <p:nvSpPr>
          <p:cNvPr id="4" name="Container"/>
          <p:cNvSpPr/>
          <p:nvPr/>
        </p:nvSpPr>
        <p:spPr>
          <a:xfrm>
            <a:off x="6583680" y="1600200"/>
            <a:ext cx="4937760" cy="3611880"/>
          </a:xfrm>
          <a:prstGeom prst="rect">
            <a:avLst/>
          </a:prstGeom>
          <a:ln w="31750">
            <a:solidFill>
              <a:schemeClr val="accent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 name="Text 3"/>
          <p:cNvSpPr txBox="1"/>
          <p:nvPr/>
        </p:nvSpPr>
        <p:spPr>
          <a:xfrm>
            <a:off x="6812280" y="1719072"/>
            <a:ext cx="44805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tx1"/>
                </a:solidFill>
                <a:effectLst/>
                <a:uLnTx/>
                <a:uFillTx/>
                <a:latin typeface="Arial" pitchFamily="34" charset="0"/>
                <a:ea typeface="Arial" pitchFamily="34" charset="-122"/>
                <a:cs typeface="Arial" pitchFamily="34" charset="-120"/>
              </a:rPr>
              <a:t>Archived container</a:t>
            </a:r>
            <a:r>
              <a:rPr kumimoji="0" lang="en-US" sz="1200" b="0" i="0" u="none" strike="noStrike" kern="1200" cap="none" spc="0" normalizeH="0" baseline="0" noProof="0" dirty="0">
                <a:ln>
                  <a:noFill/>
                </a:ln>
                <a:solidFill>
                  <a:schemeClr val="tx1"/>
                </a:solidFill>
                <a:effectLst/>
                <a:uLnTx/>
                <a:uFillTx/>
                <a:latin typeface="Arial" pitchFamily="34" charset="0"/>
                <a:ea typeface="Arial" pitchFamily="34" charset="-122"/>
                <a:cs typeface="Arial" pitchFamily="34" charset="-120"/>
              </a:rPr>
              <a:t>   e.g., Docker or Apptainer image</a:t>
            </a:r>
            <a:endParaRPr kumimoji="0" lang="en-US" sz="1600" b="0" i="0" u="none" strike="noStrike" kern="1200" cap="none" spc="0" normalizeH="0" baseline="0" noProof="0" dirty="0">
              <a:ln>
                <a:noFill/>
              </a:ln>
              <a:solidFill>
                <a:schemeClr val="tx1"/>
              </a:solidFill>
              <a:effectLst/>
              <a:uLnTx/>
              <a:uFillTx/>
              <a:latin typeface="Arial"/>
              <a:ea typeface="+mn-ea"/>
              <a:cs typeface="+mn-cs"/>
            </a:endParaRPr>
          </a:p>
        </p:txBody>
      </p:sp>
      <p:sp>
        <p:nvSpPr>
          <p:cNvPr id="6" name="Shape 4"/>
          <p:cNvSpPr/>
          <p:nvPr/>
        </p:nvSpPr>
        <p:spPr>
          <a:xfrm>
            <a:off x="6812280" y="2176272"/>
            <a:ext cx="4480560" cy="475488"/>
          </a:xfrm>
          <a:prstGeom prst="rect">
            <a:avLst/>
          </a:prstGeom>
          <a:solidFill>
            <a:schemeClr val="bg1"/>
          </a:solidFill>
          <a:ln>
            <a:solidFill>
              <a:schemeClr val="tx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 name="Text 5"/>
          <p:cNvSpPr txBox="1"/>
          <p:nvPr/>
        </p:nvSpPr>
        <p:spPr>
          <a:xfrm>
            <a:off x="6995160" y="2176272"/>
            <a:ext cx="4114800" cy="47548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Agent code + tool definitions</a:t>
            </a:r>
            <a:endParaRPr kumimoji="0" lang="en-US" sz="1500" b="0" i="0" u="none" strike="noStrike" kern="1200" cap="none" spc="0" normalizeH="0" baseline="0" noProof="0" dirty="0">
              <a:ln>
                <a:noFill/>
              </a:ln>
              <a:solidFill>
                <a:srgbClr val="000000"/>
              </a:solidFill>
              <a:effectLst/>
              <a:uLnTx/>
              <a:uFillTx/>
              <a:latin typeface="Arial"/>
              <a:ea typeface="+mn-ea"/>
              <a:cs typeface="+mn-cs"/>
            </a:endParaRPr>
          </a:p>
        </p:txBody>
      </p:sp>
      <p:sp>
        <p:nvSpPr>
          <p:cNvPr id="8" name="Shape 6"/>
          <p:cNvSpPr/>
          <p:nvPr/>
        </p:nvSpPr>
        <p:spPr>
          <a:xfrm>
            <a:off x="6812280" y="2761488"/>
            <a:ext cx="4480560" cy="475488"/>
          </a:xfrm>
          <a:prstGeom prst="rect">
            <a:avLst/>
          </a:prstGeom>
          <a:solidFill>
            <a:schemeClr val="bg1"/>
          </a:solidFill>
          <a:ln>
            <a:solidFill>
              <a:schemeClr val="tx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9" name="Text 7"/>
          <p:cNvSpPr txBox="1"/>
          <p:nvPr/>
        </p:nvSpPr>
        <p:spPr>
          <a:xfrm>
            <a:off x="6995160" y="2761488"/>
            <a:ext cx="4114800" cy="47548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Nemotron 3.5 Lightning weights (30B MoE)</a:t>
            </a:r>
            <a:endParaRPr kumimoji="0" lang="en-US" sz="1500" b="0" i="0" u="none" strike="noStrike" kern="1200" cap="none" spc="0" normalizeH="0" baseline="0" noProof="0" dirty="0">
              <a:ln>
                <a:noFill/>
              </a:ln>
              <a:solidFill>
                <a:srgbClr val="000000"/>
              </a:solidFill>
              <a:effectLst/>
              <a:uLnTx/>
              <a:uFillTx/>
              <a:latin typeface="Arial"/>
              <a:ea typeface="+mn-ea"/>
              <a:cs typeface="+mn-cs"/>
            </a:endParaRPr>
          </a:p>
        </p:txBody>
      </p:sp>
      <p:sp>
        <p:nvSpPr>
          <p:cNvPr id="10" name="Shape 8"/>
          <p:cNvSpPr/>
          <p:nvPr/>
        </p:nvSpPr>
        <p:spPr>
          <a:xfrm>
            <a:off x="6812280" y="3346704"/>
            <a:ext cx="4480560" cy="475488"/>
          </a:xfrm>
          <a:prstGeom prst="rect">
            <a:avLst/>
          </a:prstGeom>
          <a:solidFill>
            <a:schemeClr val="bg1"/>
          </a:solidFill>
          <a:ln>
            <a:solidFill>
              <a:schemeClr val="tx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1" name="Text 9"/>
          <p:cNvSpPr txBox="1"/>
          <p:nvPr/>
        </p:nvSpPr>
        <p:spPr>
          <a:xfrm>
            <a:off x="6995160" y="3346704"/>
            <a:ext cx="4114800" cy="47548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Ollama runtime + Python environment</a:t>
            </a:r>
            <a:endParaRPr kumimoji="0" lang="en-US" sz="1500" b="0" i="0" u="none" strike="noStrike" kern="1200" cap="none" spc="0" normalizeH="0" baseline="0" noProof="0" dirty="0">
              <a:ln>
                <a:noFill/>
              </a:ln>
              <a:solidFill>
                <a:srgbClr val="000000"/>
              </a:solidFill>
              <a:effectLst/>
              <a:uLnTx/>
              <a:uFillTx/>
              <a:latin typeface="Arial"/>
              <a:ea typeface="+mn-ea"/>
              <a:cs typeface="+mn-cs"/>
            </a:endParaRPr>
          </a:p>
        </p:txBody>
      </p:sp>
      <p:sp>
        <p:nvSpPr>
          <p:cNvPr id="12" name="Shape 10"/>
          <p:cNvSpPr/>
          <p:nvPr/>
        </p:nvSpPr>
        <p:spPr>
          <a:xfrm>
            <a:off x="6812280" y="3931920"/>
            <a:ext cx="4480560" cy="475488"/>
          </a:xfrm>
          <a:prstGeom prst="rect">
            <a:avLst/>
          </a:prstGeom>
          <a:solidFill>
            <a:schemeClr val="bg1"/>
          </a:solidFill>
          <a:ln>
            <a:solidFill>
              <a:schemeClr val="tx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3" name="Text 11"/>
          <p:cNvSpPr txBox="1"/>
          <p:nvPr/>
        </p:nvSpPr>
        <p:spPr>
          <a:xfrm>
            <a:off x="6995160" y="3931920"/>
            <a:ext cx="4114800" cy="47548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Marker + Docling parsers</a:t>
            </a:r>
            <a:endParaRPr kumimoji="0" lang="en-US" sz="1500" b="0" i="0" u="none" strike="noStrike" kern="1200" cap="none" spc="0" normalizeH="0" baseline="0" noProof="0" dirty="0">
              <a:ln>
                <a:noFill/>
              </a:ln>
              <a:solidFill>
                <a:srgbClr val="000000"/>
              </a:solidFill>
              <a:effectLst/>
              <a:uLnTx/>
              <a:uFillTx/>
              <a:latin typeface="Arial"/>
              <a:ea typeface="+mn-ea"/>
              <a:cs typeface="+mn-cs"/>
            </a:endParaRPr>
          </a:p>
        </p:txBody>
      </p:sp>
      <p:sp>
        <p:nvSpPr>
          <p:cNvPr id="14" name="Shape 12"/>
          <p:cNvSpPr/>
          <p:nvPr/>
        </p:nvSpPr>
        <p:spPr>
          <a:xfrm>
            <a:off x="6812280" y="4517136"/>
            <a:ext cx="4480560" cy="475488"/>
          </a:xfrm>
          <a:prstGeom prst="rect">
            <a:avLst/>
          </a:prstGeom>
          <a:solidFill>
            <a:schemeClr val="bg1"/>
          </a:solidFill>
          <a:ln>
            <a:solidFill>
              <a:schemeClr val="tx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5" name="Text 13"/>
          <p:cNvSpPr txBox="1"/>
          <p:nvPr/>
        </p:nvSpPr>
        <p:spPr>
          <a:xfrm>
            <a:off x="6995160" y="4517136"/>
            <a:ext cx="4114800" cy="47548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ChromaDB: source documents + vectors</a:t>
            </a:r>
            <a:endParaRPr kumimoji="0" lang="en-US" sz="1500" b="0" i="0" u="none" strike="noStrike" kern="1200" cap="none" spc="0" normalizeH="0" baseline="0" noProof="0" dirty="0">
              <a:ln>
                <a:noFill/>
              </a:ln>
              <a:solidFill>
                <a:srgbClr val="000000"/>
              </a:solidFill>
              <a:effectLst/>
              <a:uLnTx/>
              <a:uFillTx/>
              <a:latin typeface="Arial"/>
              <a:ea typeface="+mn-ea"/>
              <a:cs typeface="+mn-cs"/>
            </a:endParaRPr>
          </a:p>
        </p:txBody>
      </p:sp>
      <p:sp>
        <p:nvSpPr>
          <p:cNvPr id="16" name="Shape 14"/>
          <p:cNvSpPr/>
          <p:nvPr/>
        </p:nvSpPr>
        <p:spPr>
          <a:xfrm>
            <a:off x="9052560" y="5212080"/>
            <a:ext cx="0" cy="274320"/>
          </a:xfrm>
          <a:prstGeom prst="line">
            <a:avLst/>
          </a:prstGeom>
          <a:noFill/>
          <a:ln w="19050">
            <a:solidFill>
              <a:schemeClr val="accent4"/>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7" name="External tools"/>
          <p:cNvSpPr/>
          <p:nvPr/>
        </p:nvSpPr>
        <p:spPr>
          <a:xfrm>
            <a:off x="6583680" y="5486400"/>
            <a:ext cx="4937760" cy="658368"/>
          </a:xfrm>
          <a:prstGeom prst="rect">
            <a:avLst/>
          </a:prstGeom>
          <a:ln w="19050">
            <a:solidFill>
              <a:schemeClr val="tx1"/>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8" name="Text 16"/>
          <p:cNvSpPr txBox="1"/>
          <p:nvPr/>
        </p:nvSpPr>
        <p:spPr>
          <a:xfrm>
            <a:off x="6812280" y="5486400"/>
            <a:ext cx="4480560" cy="6583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tx1"/>
                </a:solidFill>
                <a:effectLst/>
                <a:uLnTx/>
                <a:uFillTx/>
                <a:latin typeface="Arial" pitchFamily="34" charset="0"/>
                <a:ea typeface="Arial" pitchFamily="34" charset="-122"/>
                <a:cs typeface="Arial" pitchFamily="34" charset="-120"/>
              </a:rPr>
              <a:t>Live external tools</a:t>
            </a:r>
            <a:r>
              <a:rPr kumimoji="0" lang="en-US" sz="1400" b="0" i="0" u="none" strike="noStrike" kern="1200" cap="none" spc="0" normalizeH="0" baseline="0" noProof="0" dirty="0">
                <a:ln>
                  <a:noFill/>
                </a:ln>
                <a:solidFill>
                  <a:schemeClr val="tx1"/>
                </a:solidFill>
                <a:effectLst/>
                <a:uLnTx/>
                <a:uFillTx/>
                <a:latin typeface="Arial" pitchFamily="34" charset="0"/>
                <a:ea typeface="Arial" pitchFamily="34" charset="-122"/>
                <a:cs typeface="Arial" pitchFamily="34" charset="-120"/>
              </a:rPr>
              <a:t>  search, news, weather. Not archived.</a:t>
            </a:r>
            <a:endParaRPr kumimoji="0" lang="en-US" sz="1400" b="0" i="0" u="none" strike="noStrike" kern="1200" cap="none" spc="0" normalizeH="0" baseline="0" noProof="0" dirty="0">
              <a:ln>
                <a:noFill/>
              </a:ln>
              <a:solidFill>
                <a:schemeClr val="tx1"/>
              </a:solidFill>
              <a:effectLst/>
              <a:uLnTx/>
              <a:uFillTx/>
              <a:latin typeface="Arial"/>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prstGeom prst="rect">
            <a:avLst/>
          </a:prstGeom>
          <a:noFill/>
          <a:ln/>
        </p:spPr>
        <p:txBody>
          <a:bodyPr wrap="square" lIns="0" tIns="0" rIns="0" bIns="0" rtlCol="0" anchor="ctr"/>
          <a:lstStyle/>
          <a:p>
            <a:pPr marL="0" indent="0" algn="l">
              <a:buNone/>
            </a:pPr>
            <a:r>
              <a:rPr lang="en-US" sz="3600" dirty="0">
                <a:solidFill>
                  <a:schemeClr val="tx1"/>
                </a:solidFill>
                <a:latin typeface="Arial Black" pitchFamily="34" charset="0"/>
                <a:ea typeface="Arial Black" pitchFamily="34" charset="-122"/>
                <a:cs typeface="Arial Black" pitchFamily="34" charset="-120"/>
              </a:rPr>
              <a:t>Vector Databases in One Slide</a:t>
            </a:r>
            <a:endParaRPr lang="en-US" sz="3600" dirty="0"/>
          </a:p>
        </p:txBody>
      </p:sp>
      <p:sp>
        <p:nvSpPr>
          <p:cNvPr id="3" name="Text 2"/>
          <p:cNvSpPr>
            <a:spLocks noGrp="1"/>
          </p:cNvSpPr>
          <p:nvPr>
            <p:ph type="body" idx="1"/>
          </p:nvPr>
        </p:nvSpPr>
        <p:spPr>
          <a:prstGeom prst="rect">
            <a:avLst/>
          </a:prstGeom>
          <a:noFill/>
          <a:ln/>
        </p:spPr>
        <p:txBody>
          <a:bodyPr wrap="square" rtlCol="0" anchor="t">
            <a:normAutofit lnSpcReduction="10000"/>
          </a:bodyPr>
          <a:lstStyle/>
          <a:p>
            <a:pPr marL="342900" indent="-342900">
              <a:spcAft>
                <a:spcPts val="800"/>
              </a:spcAft>
              <a:buSzPct val="100000"/>
              <a:buChar char="•"/>
            </a:pPr>
            <a:r>
              <a:rPr lang="en-US" sz="2200" dirty="0">
                <a:solidFill>
                  <a:schemeClr val="tx1"/>
                </a:solidFill>
                <a:latin typeface="Arial" pitchFamily="34" charset="0"/>
                <a:ea typeface="Arial" pitchFamily="34" charset="-122"/>
                <a:cs typeface="Arial" pitchFamily="34" charset="-120"/>
              </a:rPr>
              <a:t>Documents are split into short text chunks</a:t>
            </a:r>
            <a:endParaRPr lang="en-US" sz="2200" dirty="0"/>
          </a:p>
          <a:p>
            <a:pPr marL="342900" indent="-342900">
              <a:spcBef>
                <a:spcPts val="600"/>
              </a:spcBef>
              <a:spcAft>
                <a:spcPts val="800"/>
              </a:spcAft>
              <a:buSzPct val="100000"/>
              <a:buChar char="•"/>
            </a:pPr>
            <a:r>
              <a:rPr lang="en-US" sz="2200" dirty="0">
                <a:solidFill>
                  <a:schemeClr val="tx1"/>
                </a:solidFill>
                <a:latin typeface="Arial" pitchFamily="34" charset="0"/>
                <a:ea typeface="Arial" pitchFamily="34" charset="-122"/>
                <a:cs typeface="Arial" pitchFamily="34" charset="-120"/>
              </a:rPr>
              <a:t>An embedding model turns each chunk into a vector</a:t>
            </a:r>
            <a:endParaRPr lang="en-US" sz="2200" dirty="0"/>
          </a:p>
          <a:p>
            <a:pPr marL="685800" lvl="1" indent="-342900">
              <a:spcAft>
                <a:spcPts val="400"/>
              </a:spcAft>
              <a:buSzPct val="100000"/>
              <a:buChar char="•"/>
            </a:pPr>
            <a:r>
              <a:rPr lang="en-US" sz="1800" dirty="0">
                <a:solidFill>
                  <a:schemeClr val="tx1"/>
                </a:solidFill>
                <a:latin typeface="Arial" pitchFamily="34" charset="0"/>
                <a:ea typeface="Arial" pitchFamily="34" charset="-122"/>
                <a:cs typeface="Arial" pitchFamily="34" charset="-120"/>
              </a:rPr>
              <a:t>A list of hundreds of numbers that encodes meaning</a:t>
            </a:r>
            <a:endParaRPr lang="en-US" sz="2200" dirty="0"/>
          </a:p>
          <a:p>
            <a:pPr marL="342900" indent="-342900">
              <a:spcBef>
                <a:spcPts val="600"/>
              </a:spcBef>
              <a:spcAft>
                <a:spcPts val="800"/>
              </a:spcAft>
              <a:buSzPct val="100000"/>
              <a:buChar char="•"/>
            </a:pPr>
            <a:r>
              <a:rPr lang="en-US" sz="2200" dirty="0">
                <a:solidFill>
                  <a:schemeClr val="tx1"/>
                </a:solidFill>
                <a:latin typeface="Arial" pitchFamily="34" charset="0"/>
                <a:ea typeface="Arial" pitchFamily="34" charset="-122"/>
                <a:cs typeface="Arial" pitchFamily="34" charset="-120"/>
              </a:rPr>
              <a:t>Similar meaning lands close together</a:t>
            </a:r>
            <a:endParaRPr lang="en-US" sz="2200" dirty="0"/>
          </a:p>
          <a:p>
            <a:pPr marL="342900" indent="-342900">
              <a:spcBef>
                <a:spcPts val="600"/>
              </a:spcBef>
              <a:spcAft>
                <a:spcPts val="800"/>
              </a:spcAft>
              <a:buSzPct val="100000"/>
              <a:buChar char="•"/>
            </a:pPr>
            <a:r>
              <a:rPr lang="en-US" sz="2200" dirty="0">
                <a:solidFill>
                  <a:schemeClr val="tx1"/>
                </a:solidFill>
                <a:latin typeface="Arial" pitchFamily="34" charset="0"/>
                <a:ea typeface="Arial" pitchFamily="34" charset="-122"/>
                <a:cs typeface="Arial" pitchFamily="34" charset="-120"/>
              </a:rPr>
              <a:t>A question is embedded the same way and matched to its nearest chunks</a:t>
            </a:r>
            <a:endParaRPr lang="en-US" sz="2200" dirty="0"/>
          </a:p>
        </p:txBody>
      </p:sp>
      <p:sp>
        <p:nvSpPr>
          <p:cNvPr id="35" name="Slide Number Placeholder 0"/>
          <p:cNvSpPr>
            <a:spLocks noGrp="1"/>
          </p:cNvSpPr>
          <p:nvPr>
            <p:ph type="sldNum" idx="12"/>
          </p:nvPr>
        </p:nvSpPr>
        <p:spPr>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4"/>
                </a:solidFill>
                <a:latin typeface="Arial"/>
                <a:ea typeface="Arial"/>
                <a:cs typeface="Aria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srgbClr val="8C8C8C"/>
                </a:solidFill>
                <a:effectLst/>
                <a:uLnTx/>
                <a:uFillTx/>
                <a:latin typeface="Arial"/>
                <a:cs typeface="Arial"/>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srgbClr val="8C8C8C"/>
              </a:solidFill>
              <a:effectLst/>
              <a:uLnTx/>
              <a:uFillTx/>
              <a:latin typeface="Arial"/>
              <a:cs typeface="Arial"/>
            </a:endParaRPr>
          </a:p>
        </p:txBody>
      </p:sp>
      <p:sp>
        <p:nvSpPr>
          <p:cNvPr id="4" name="Shape 2"/>
          <p:cNvSpPr/>
          <p:nvPr/>
        </p:nvSpPr>
        <p:spPr>
          <a:xfrm>
            <a:off x="6583680" y="1600200"/>
            <a:ext cx="2103120" cy="1097280"/>
          </a:xfrm>
          <a:prstGeom prst="rect">
            <a:avLst/>
          </a:prstGeom>
          <a:ln w="15875">
            <a:solidFill>
              <a:schemeClr val="tx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 name="Text 3"/>
          <p:cNvSpPr txBox="1"/>
          <p:nvPr/>
        </p:nvSpPr>
        <p:spPr>
          <a:xfrm>
            <a:off x="6720840" y="1600200"/>
            <a:ext cx="1828800" cy="10972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1"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“Docling parses 1.27 pages/s on an M3 Max”</a:t>
            </a:r>
            <a:endParaRPr kumimoji="0" lang="en-US" sz="1300" b="0" i="0" u="none" strike="noStrike" kern="1200" cap="none" spc="0" normalizeH="0" baseline="0" noProof="0" dirty="0">
              <a:ln>
                <a:noFill/>
              </a:ln>
              <a:solidFill>
                <a:srgbClr val="000000"/>
              </a:solidFill>
              <a:effectLst/>
              <a:uLnTx/>
              <a:uFillTx/>
              <a:latin typeface="Arial"/>
              <a:ea typeface="+mn-ea"/>
              <a:cs typeface="+mn-cs"/>
            </a:endParaRPr>
          </a:p>
        </p:txBody>
      </p:sp>
      <p:sp>
        <p:nvSpPr>
          <p:cNvPr id="6" name="Shape 4"/>
          <p:cNvSpPr/>
          <p:nvPr/>
        </p:nvSpPr>
        <p:spPr>
          <a:xfrm>
            <a:off x="8778240" y="2148840"/>
            <a:ext cx="548640" cy="0"/>
          </a:xfrm>
          <a:prstGeom prst="line">
            <a:avLst/>
          </a:prstGeom>
          <a:noFill/>
          <a:ln w="22225">
            <a:solidFill>
              <a:schemeClr val="tx1"/>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 name="Text 5"/>
          <p:cNvSpPr txBox="1"/>
          <p:nvPr/>
        </p:nvSpPr>
        <p:spPr>
          <a:xfrm>
            <a:off x="8686800" y="1783080"/>
            <a:ext cx="7315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Arial" pitchFamily="34" charset="0"/>
                <a:ea typeface="Arial" pitchFamily="34" charset="-122"/>
                <a:cs typeface="Arial" pitchFamily="34" charset="-120"/>
              </a:rPr>
              <a:t>embed</a:t>
            </a:r>
            <a:endParaRPr kumimoji="0" lang="en-US" sz="1200" b="0" i="0" u="none" strike="noStrike" kern="1200" cap="none" spc="0" normalizeH="0" baseline="0" noProof="0" dirty="0">
              <a:ln>
                <a:noFill/>
              </a:ln>
              <a:solidFill>
                <a:srgbClr val="000000"/>
              </a:solidFill>
              <a:effectLst/>
              <a:uLnTx/>
              <a:uFillTx/>
              <a:latin typeface="Arial"/>
              <a:ea typeface="+mn-ea"/>
              <a:cs typeface="+mn-cs"/>
            </a:endParaRPr>
          </a:p>
        </p:txBody>
      </p:sp>
      <p:sp>
        <p:nvSpPr>
          <p:cNvPr id="8" name="Shape 6"/>
          <p:cNvSpPr/>
          <p:nvPr/>
        </p:nvSpPr>
        <p:spPr>
          <a:xfrm>
            <a:off x="9418320" y="1600200"/>
            <a:ext cx="2103120" cy="1097280"/>
          </a:xfrm>
          <a:prstGeom prst="rect">
            <a:avLst/>
          </a:prstGeom>
          <a:noFill/>
          <a:ln>
            <a:solidFill>
              <a:schemeClr val="tx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9" name="Text 7"/>
          <p:cNvSpPr txBox="1"/>
          <p:nvPr/>
        </p:nvSpPr>
        <p:spPr>
          <a:xfrm>
            <a:off x="9555480" y="1600200"/>
            <a:ext cx="1828800" cy="10972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Courier New" pitchFamily="34" charset="0"/>
                <a:ea typeface="Courier New" pitchFamily="34" charset="-122"/>
                <a:cs typeface="Courier New" pitchFamily="34" charset="-120"/>
              </a:rPr>
              <a:t>[0.12, −0.83,</a:t>
            </a:r>
            <a:endParaRPr kumimoji="0" lang="en-US" sz="1400" b="0" i="0" u="none" strike="noStrike" kern="1200" cap="none" spc="0" normalizeH="0" baseline="0" noProof="0" dirty="0">
              <a:ln>
                <a:noFill/>
              </a:ln>
              <a:solidFill>
                <a:schemeClr val="tx1"/>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Courier New" pitchFamily="34" charset="0"/>
                <a:ea typeface="Courier New" pitchFamily="34" charset="-122"/>
                <a:cs typeface="Courier New" pitchFamily="34" charset="-120"/>
              </a:rPr>
              <a:t> 0.45, 0.31,</a:t>
            </a:r>
            <a:endParaRPr kumimoji="0" lang="en-US" sz="1400" b="0" i="0" u="none" strike="noStrike" kern="1200" cap="none" spc="0" normalizeH="0" baseline="0" noProof="0" dirty="0">
              <a:ln>
                <a:noFill/>
              </a:ln>
              <a:solidFill>
                <a:schemeClr val="tx1"/>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Courier New" pitchFamily="34" charset="0"/>
                <a:ea typeface="Courier New" pitchFamily="34" charset="-122"/>
                <a:cs typeface="Courier New" pitchFamily="34" charset="-120"/>
              </a:rPr>
              <a:t> …, 0.07]</a:t>
            </a:r>
            <a:endParaRPr kumimoji="0" lang="en-US" sz="1400" b="0" i="0" u="none" strike="noStrike" kern="1200" cap="none" spc="0" normalizeH="0" baseline="0" noProof="0" dirty="0">
              <a:ln>
                <a:noFill/>
              </a:ln>
              <a:solidFill>
                <a:schemeClr val="tx1"/>
              </a:solidFill>
              <a:effectLst/>
              <a:uLnTx/>
              <a:uFillTx/>
              <a:latin typeface="Arial"/>
              <a:ea typeface="+mn-ea"/>
              <a:cs typeface="+mn-cs"/>
            </a:endParaRPr>
          </a:p>
        </p:txBody>
      </p:sp>
      <p:sp>
        <p:nvSpPr>
          <p:cNvPr id="10" name="Meaning space"/>
          <p:cNvSpPr/>
          <p:nvPr/>
        </p:nvSpPr>
        <p:spPr>
          <a:xfrm>
            <a:off x="6583680" y="2971800"/>
            <a:ext cx="4937760" cy="3154680"/>
          </a:xfrm>
          <a:prstGeom prst="rect">
            <a:avLst/>
          </a:prstGeom>
          <a:solidFill>
            <a:schemeClr val="bg1">
              <a:lumMod val="95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1" name="Text 9"/>
          <p:cNvSpPr txBox="1"/>
          <p:nvPr/>
        </p:nvSpPr>
        <p:spPr>
          <a:xfrm>
            <a:off x="6766560" y="3081528"/>
            <a:ext cx="2743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Arial" pitchFamily="34" charset="0"/>
                <a:ea typeface="Arial" pitchFamily="34" charset="-122"/>
                <a:cs typeface="Arial" pitchFamily="34" charset="-120"/>
              </a:rPr>
              <a:t>Meaning space (2-D sketch)</a:t>
            </a:r>
            <a:endParaRPr kumimoji="0" lang="en-US" sz="1200" b="0" i="0" u="none" strike="noStrike" kern="1200" cap="none" spc="0" normalizeH="0" baseline="0" noProof="0" dirty="0">
              <a:ln>
                <a:noFill/>
              </a:ln>
              <a:solidFill>
                <a:srgbClr val="000000"/>
              </a:solidFill>
              <a:effectLst/>
              <a:uLnTx/>
              <a:uFillTx/>
              <a:latin typeface="Arial"/>
              <a:ea typeface="+mn-ea"/>
              <a:cs typeface="+mn-cs"/>
            </a:endParaRPr>
          </a:p>
        </p:txBody>
      </p:sp>
      <p:sp>
        <p:nvSpPr>
          <p:cNvPr id="12" name="Shape 10"/>
          <p:cNvSpPr/>
          <p:nvPr/>
        </p:nvSpPr>
        <p:spPr>
          <a:xfrm>
            <a:off x="7251192" y="3959352"/>
            <a:ext cx="128016" cy="128016"/>
          </a:xfrm>
          <a:prstGeom prst="ellipse">
            <a:avLst/>
          </a:prstGeom>
          <a:solidFill>
            <a:schemeClr val="tx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3" name="Shape 11"/>
          <p:cNvSpPr/>
          <p:nvPr/>
        </p:nvSpPr>
        <p:spPr>
          <a:xfrm>
            <a:off x="7571232" y="3822192"/>
            <a:ext cx="128016" cy="128016"/>
          </a:xfrm>
          <a:prstGeom prst="ellipse">
            <a:avLst/>
          </a:prstGeom>
          <a:solidFill>
            <a:schemeClr val="tx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4" name="Shape 12"/>
          <p:cNvSpPr/>
          <p:nvPr/>
        </p:nvSpPr>
        <p:spPr>
          <a:xfrm>
            <a:off x="7799832" y="4114800"/>
            <a:ext cx="128016" cy="128016"/>
          </a:xfrm>
          <a:prstGeom prst="ellipse">
            <a:avLst/>
          </a:prstGeom>
          <a:solidFill>
            <a:schemeClr val="tx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5" name="Shape 13"/>
          <p:cNvSpPr/>
          <p:nvPr/>
        </p:nvSpPr>
        <p:spPr>
          <a:xfrm>
            <a:off x="7434072" y="4279392"/>
            <a:ext cx="128016" cy="128016"/>
          </a:xfrm>
          <a:prstGeom prst="ellipse">
            <a:avLst/>
          </a:prstGeom>
          <a:solidFill>
            <a:schemeClr val="tx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6" name="Shape 14"/>
          <p:cNvSpPr/>
          <p:nvPr/>
        </p:nvSpPr>
        <p:spPr>
          <a:xfrm>
            <a:off x="7754112" y="4370832"/>
            <a:ext cx="128016" cy="128016"/>
          </a:xfrm>
          <a:prstGeom prst="ellipse">
            <a:avLst/>
          </a:prstGeom>
          <a:solidFill>
            <a:schemeClr val="tx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7" name="Text 15"/>
          <p:cNvSpPr txBox="1"/>
          <p:nvPr/>
        </p:nvSpPr>
        <p:spPr>
          <a:xfrm>
            <a:off x="6812280" y="3429000"/>
            <a:ext cx="16459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595959"/>
                </a:solidFill>
                <a:effectLst/>
                <a:uLnTx/>
                <a:uFillTx/>
                <a:latin typeface="Arial" pitchFamily="34" charset="0"/>
                <a:ea typeface="Arial" pitchFamily="34" charset="-122"/>
                <a:cs typeface="Arial" pitchFamily="34" charset="-120"/>
              </a:rPr>
              <a:t>parser benchmarks</a:t>
            </a:r>
            <a:endParaRPr kumimoji="0" lang="en-US" sz="1200" b="0" i="0" u="none" strike="noStrike" kern="1200" cap="none" spc="0" normalizeH="0" baseline="0" noProof="0" dirty="0">
              <a:ln>
                <a:noFill/>
              </a:ln>
              <a:solidFill>
                <a:srgbClr val="000000"/>
              </a:solidFill>
              <a:effectLst/>
              <a:uLnTx/>
              <a:uFillTx/>
              <a:latin typeface="Arial"/>
              <a:ea typeface="+mn-ea"/>
              <a:cs typeface="+mn-cs"/>
            </a:endParaRPr>
          </a:p>
        </p:txBody>
      </p:sp>
      <p:sp>
        <p:nvSpPr>
          <p:cNvPr id="18" name="Shape 16"/>
          <p:cNvSpPr/>
          <p:nvPr/>
        </p:nvSpPr>
        <p:spPr>
          <a:xfrm>
            <a:off x="10040112" y="3913632"/>
            <a:ext cx="128016" cy="128016"/>
          </a:xfrm>
          <a:prstGeom prst="ellipse">
            <a:avLst/>
          </a:prstGeom>
          <a:solidFill>
            <a:schemeClr val="tx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9" name="Shape 17"/>
          <p:cNvSpPr/>
          <p:nvPr/>
        </p:nvSpPr>
        <p:spPr>
          <a:xfrm>
            <a:off x="10314432" y="3730752"/>
            <a:ext cx="128016" cy="128016"/>
          </a:xfrm>
          <a:prstGeom prst="ellipse">
            <a:avLst/>
          </a:prstGeom>
          <a:solidFill>
            <a:schemeClr val="tx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0" name="Shape 18"/>
          <p:cNvSpPr/>
          <p:nvPr/>
        </p:nvSpPr>
        <p:spPr>
          <a:xfrm>
            <a:off x="10588752" y="3959352"/>
            <a:ext cx="128016" cy="128016"/>
          </a:xfrm>
          <a:prstGeom prst="ellipse">
            <a:avLst/>
          </a:prstGeom>
          <a:solidFill>
            <a:schemeClr val="tx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1" name="Shape 19"/>
          <p:cNvSpPr/>
          <p:nvPr/>
        </p:nvSpPr>
        <p:spPr>
          <a:xfrm>
            <a:off x="10177272" y="4233672"/>
            <a:ext cx="128016" cy="128016"/>
          </a:xfrm>
          <a:prstGeom prst="ellipse">
            <a:avLst/>
          </a:prstGeom>
          <a:solidFill>
            <a:schemeClr val="tx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2" name="Shape 20"/>
          <p:cNvSpPr/>
          <p:nvPr/>
        </p:nvSpPr>
        <p:spPr>
          <a:xfrm>
            <a:off x="10497312" y="4233672"/>
            <a:ext cx="128016" cy="128016"/>
          </a:xfrm>
          <a:prstGeom prst="ellipse">
            <a:avLst/>
          </a:prstGeom>
          <a:solidFill>
            <a:schemeClr val="tx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3" name="Text 21"/>
          <p:cNvSpPr txBox="1"/>
          <p:nvPr/>
        </p:nvSpPr>
        <p:spPr>
          <a:xfrm>
            <a:off x="9692640" y="3429000"/>
            <a:ext cx="16459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595959"/>
                </a:solidFill>
                <a:effectLst/>
                <a:uLnTx/>
                <a:uFillTx/>
                <a:latin typeface="Arial" pitchFamily="34" charset="0"/>
                <a:ea typeface="Arial" pitchFamily="34" charset="-122"/>
                <a:cs typeface="Arial" pitchFamily="34" charset="-120"/>
              </a:rPr>
              <a:t>lab handbook</a:t>
            </a:r>
            <a:endParaRPr kumimoji="0" lang="en-US" sz="1200" b="0" i="0" u="none" strike="noStrike" kern="1200" cap="none" spc="0" normalizeH="0" baseline="0" noProof="0" dirty="0">
              <a:ln>
                <a:noFill/>
              </a:ln>
              <a:solidFill>
                <a:srgbClr val="000000"/>
              </a:solidFill>
              <a:effectLst/>
              <a:uLnTx/>
              <a:uFillTx/>
              <a:latin typeface="Arial"/>
              <a:ea typeface="+mn-ea"/>
              <a:cs typeface="+mn-cs"/>
            </a:endParaRPr>
          </a:p>
        </p:txBody>
      </p:sp>
      <p:sp>
        <p:nvSpPr>
          <p:cNvPr id="24" name="Shape 22"/>
          <p:cNvSpPr/>
          <p:nvPr/>
        </p:nvSpPr>
        <p:spPr>
          <a:xfrm>
            <a:off x="8897112" y="5239512"/>
            <a:ext cx="128016" cy="128016"/>
          </a:xfrm>
          <a:prstGeom prst="ellipse">
            <a:avLst/>
          </a:prstGeom>
          <a:solidFill>
            <a:schemeClr val="tx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5" name="Shape 23"/>
          <p:cNvSpPr/>
          <p:nvPr/>
        </p:nvSpPr>
        <p:spPr>
          <a:xfrm>
            <a:off x="9171432" y="5102352"/>
            <a:ext cx="128016" cy="128016"/>
          </a:xfrm>
          <a:prstGeom prst="ellipse">
            <a:avLst/>
          </a:prstGeom>
          <a:solidFill>
            <a:schemeClr val="tx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6" name="Shape 24"/>
          <p:cNvSpPr/>
          <p:nvPr/>
        </p:nvSpPr>
        <p:spPr>
          <a:xfrm>
            <a:off x="9445752" y="5330952"/>
            <a:ext cx="128016" cy="128016"/>
          </a:xfrm>
          <a:prstGeom prst="ellipse">
            <a:avLst/>
          </a:prstGeom>
          <a:solidFill>
            <a:schemeClr val="tx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7" name="Shape 25"/>
          <p:cNvSpPr/>
          <p:nvPr/>
        </p:nvSpPr>
        <p:spPr>
          <a:xfrm>
            <a:off x="9079992" y="5532120"/>
            <a:ext cx="128016" cy="128016"/>
          </a:xfrm>
          <a:prstGeom prst="ellipse">
            <a:avLst/>
          </a:prstGeom>
          <a:solidFill>
            <a:schemeClr val="tx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8" name="Shape 26"/>
          <p:cNvSpPr/>
          <p:nvPr/>
        </p:nvSpPr>
        <p:spPr>
          <a:xfrm>
            <a:off x="9372600" y="5559552"/>
            <a:ext cx="128016" cy="128016"/>
          </a:xfrm>
          <a:prstGeom prst="ellipse">
            <a:avLst/>
          </a:prstGeom>
          <a:solidFill>
            <a:schemeClr val="tx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9" name="Text 27"/>
          <p:cNvSpPr txBox="1"/>
          <p:nvPr/>
        </p:nvSpPr>
        <p:spPr>
          <a:xfrm>
            <a:off x="8549640" y="5715000"/>
            <a:ext cx="16459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595959"/>
                </a:solidFill>
                <a:effectLst/>
                <a:uLnTx/>
                <a:uFillTx/>
                <a:latin typeface="Arial" pitchFamily="34" charset="0"/>
                <a:ea typeface="Arial" pitchFamily="34" charset="-122"/>
                <a:cs typeface="Arial" pitchFamily="34" charset="-120"/>
              </a:rPr>
              <a:t>digital twins</a:t>
            </a:r>
            <a:endParaRPr kumimoji="0" lang="en-US" sz="1200" b="0" i="0" u="none" strike="noStrike" kern="1200" cap="none" spc="0" normalizeH="0" baseline="0" noProof="0" dirty="0">
              <a:ln>
                <a:noFill/>
              </a:ln>
              <a:solidFill>
                <a:srgbClr val="000000"/>
              </a:solidFill>
              <a:effectLst/>
              <a:uLnTx/>
              <a:uFillTx/>
              <a:latin typeface="Arial"/>
              <a:ea typeface="+mn-ea"/>
              <a:cs typeface="+mn-cs"/>
            </a:endParaRPr>
          </a:p>
        </p:txBody>
      </p:sp>
      <p:sp>
        <p:nvSpPr>
          <p:cNvPr id="30" name="Shape 28"/>
          <p:cNvSpPr/>
          <p:nvPr/>
        </p:nvSpPr>
        <p:spPr>
          <a:xfrm flipH="1" flipV="1">
            <a:off x="7818120" y="4434840"/>
            <a:ext cx="365760" cy="411480"/>
          </a:xfrm>
          <a:prstGeom prst="line">
            <a:avLst/>
          </a:prstGeom>
          <a:noFill/>
          <a:ln w="15875">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1" name="Shape 29"/>
          <p:cNvSpPr/>
          <p:nvPr/>
        </p:nvSpPr>
        <p:spPr>
          <a:xfrm flipH="1" flipV="1">
            <a:off x="7863840" y="4178808"/>
            <a:ext cx="320040" cy="667512"/>
          </a:xfrm>
          <a:prstGeom prst="line">
            <a:avLst/>
          </a:prstGeom>
          <a:noFill/>
          <a:ln w="15875">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2" name="Shape 30"/>
          <p:cNvSpPr/>
          <p:nvPr/>
        </p:nvSpPr>
        <p:spPr>
          <a:xfrm flipH="1" flipV="1">
            <a:off x="7498080" y="4343400"/>
            <a:ext cx="685800" cy="502920"/>
          </a:xfrm>
          <a:prstGeom prst="line">
            <a:avLst/>
          </a:prstGeom>
          <a:noFill/>
          <a:ln w="15875">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3" name="Query"/>
          <p:cNvSpPr/>
          <p:nvPr/>
        </p:nvSpPr>
        <p:spPr>
          <a:xfrm>
            <a:off x="8028432" y="4690872"/>
            <a:ext cx="310896" cy="310896"/>
          </a:xfrm>
          <a:prstGeom prst="star5">
            <a:avLst/>
          </a:prstGeom>
          <a:solidFill>
            <a:schemeClr val="bg2"/>
          </a:solidFill>
          <a:ln>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4" name="Text 32"/>
          <p:cNvSpPr txBox="1"/>
          <p:nvPr/>
        </p:nvSpPr>
        <p:spPr>
          <a:xfrm>
            <a:off x="8412480" y="4709160"/>
            <a:ext cx="23774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tx1"/>
                </a:solidFill>
                <a:effectLst/>
                <a:uLnTx/>
                <a:uFillTx/>
                <a:latin typeface="Arial" pitchFamily="34" charset="0"/>
                <a:ea typeface="Arial" pitchFamily="34" charset="-122"/>
                <a:cs typeface="Arial" pitchFamily="34" charset="-120"/>
              </a:rPr>
              <a:t>question → 3 nearest chunks</a:t>
            </a:r>
            <a:endParaRPr kumimoji="0" lang="en-US" sz="1200" b="0" i="0" u="none" strike="noStrike" kern="1200" cap="none" spc="0" normalizeH="0" baseline="0" noProof="0" dirty="0">
              <a:ln>
                <a:noFill/>
              </a:ln>
              <a:solidFill>
                <a:schemeClr val="tx1"/>
              </a:solidFill>
              <a:effectLst/>
              <a:uLnTx/>
              <a:uFillTx/>
              <a:latin typeface="Arial"/>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prstGeom prst="rect">
            <a:avLst/>
          </a:prstGeom>
          <a:noFill/>
          <a:ln/>
        </p:spPr>
        <p:txBody>
          <a:bodyPr wrap="square" lIns="0" tIns="0" rIns="0" bIns="0" rtlCol="0" anchor="ctr"/>
          <a:lstStyle/>
          <a:p>
            <a:pPr marL="0" indent="0" algn="l">
              <a:buNone/>
            </a:pPr>
            <a:r>
              <a:rPr lang="en-US" sz="3600" dirty="0">
                <a:solidFill>
                  <a:schemeClr val="tx1"/>
                </a:solidFill>
                <a:latin typeface="Arial Black" pitchFamily="34" charset="0"/>
                <a:ea typeface="Arial Black" pitchFamily="34" charset="-122"/>
                <a:cs typeface="Arial Black" pitchFamily="34" charset="-120"/>
              </a:rPr>
              <a:t>Build Once, Then Freeze</a:t>
            </a:r>
            <a:endParaRPr lang="en-US" sz="3600" dirty="0"/>
          </a:p>
        </p:txBody>
      </p:sp>
      <p:sp>
        <p:nvSpPr>
          <p:cNvPr id="3" name="Text 2"/>
          <p:cNvSpPr>
            <a:spLocks noGrp="1"/>
          </p:cNvSpPr>
          <p:nvPr>
            <p:ph type="body" idx="1"/>
          </p:nvPr>
        </p:nvSpPr>
        <p:spPr>
          <a:prstGeom prst="rect">
            <a:avLst/>
          </a:prstGeom>
          <a:noFill/>
          <a:ln/>
        </p:spPr>
        <p:txBody>
          <a:bodyPr wrap="square" rtlCol="0" anchor="t">
            <a:normAutofit fontScale="92500"/>
          </a:bodyPr>
          <a:lstStyle/>
          <a:p>
            <a:pPr marL="342900" indent="-342900">
              <a:spcAft>
                <a:spcPts val="800"/>
              </a:spcAft>
              <a:buSzPct val="100000"/>
              <a:buChar char="•"/>
            </a:pPr>
            <a:r>
              <a:rPr lang="en-US" sz="2200" dirty="0">
                <a:solidFill>
                  <a:schemeClr val="tx1"/>
                </a:solidFill>
                <a:latin typeface="Arial" pitchFamily="34" charset="0"/>
                <a:ea typeface="Arial" pitchFamily="34" charset="-122"/>
                <a:cs typeface="Arial" pitchFamily="34" charset="-120"/>
              </a:rPr>
              <a:t>Build runs once</a:t>
            </a:r>
            <a:endParaRPr lang="en-US" sz="2200" dirty="0"/>
          </a:p>
          <a:p>
            <a:pPr marL="685800" lvl="1" indent="-342900">
              <a:spcAft>
                <a:spcPts val="400"/>
              </a:spcAft>
              <a:buSzPct val="100000"/>
              <a:buChar char="•"/>
            </a:pPr>
            <a:r>
              <a:rPr lang="en-US" sz="1800" dirty="0">
                <a:solidFill>
                  <a:schemeClr val="tx1"/>
                </a:solidFill>
                <a:latin typeface="Arial" pitchFamily="34" charset="0"/>
                <a:ea typeface="Arial" pitchFamily="34" charset="-122"/>
                <a:cs typeface="Arial" pitchFamily="34" charset="-120"/>
              </a:rPr>
              <a:t>Gather, parse, chunk, embed, write</a:t>
            </a:r>
            <a:endParaRPr lang="en-US" sz="2200" dirty="0"/>
          </a:p>
          <a:p>
            <a:pPr marL="342900" indent="-342900">
              <a:spcBef>
                <a:spcPts val="600"/>
              </a:spcBef>
              <a:spcAft>
                <a:spcPts val="800"/>
              </a:spcAft>
              <a:buSzPct val="100000"/>
              <a:buChar char="•"/>
            </a:pPr>
            <a:r>
              <a:rPr lang="en-US" sz="2200" dirty="0">
                <a:solidFill>
                  <a:schemeClr val="tx1"/>
                </a:solidFill>
                <a:latin typeface="Arial" pitchFamily="34" charset="0"/>
                <a:ea typeface="Arial" pitchFamily="34" charset="-122"/>
                <a:cs typeface="Arial" pitchFamily="34" charset="-120"/>
              </a:rPr>
              <a:t>Freeze the database, read-only from then on</a:t>
            </a:r>
            <a:endParaRPr lang="en-US" sz="2200" dirty="0"/>
          </a:p>
          <a:p>
            <a:pPr marL="342900" indent="-342900">
              <a:spcBef>
                <a:spcPts val="600"/>
              </a:spcBef>
              <a:spcAft>
                <a:spcPts val="800"/>
              </a:spcAft>
              <a:buSzPct val="100000"/>
              <a:buChar char="•"/>
            </a:pPr>
            <a:r>
              <a:rPr lang="en-US" sz="2200" dirty="0">
                <a:solidFill>
                  <a:schemeClr val="tx1"/>
                </a:solidFill>
                <a:latin typeface="Arial" pitchFamily="34" charset="0"/>
                <a:ea typeface="Arial" pitchFamily="34" charset="-122"/>
                <a:cs typeface="Arial" pitchFamily="34" charset="-120"/>
              </a:rPr>
              <a:t>Query runs on every question</a:t>
            </a:r>
            <a:endParaRPr lang="en-US" sz="2200" dirty="0"/>
          </a:p>
          <a:p>
            <a:pPr marL="685800" lvl="1" indent="-342900">
              <a:spcAft>
                <a:spcPts val="400"/>
              </a:spcAft>
              <a:buSzPct val="100000"/>
              <a:buChar char="•"/>
            </a:pPr>
            <a:r>
              <a:rPr lang="en-US" sz="1800" dirty="0">
                <a:solidFill>
                  <a:schemeClr val="tx1"/>
                </a:solidFill>
                <a:latin typeface="Arial" pitchFamily="34" charset="0"/>
                <a:ea typeface="Arial" pitchFamily="34" charset="-122"/>
                <a:cs typeface="Arial" pitchFamily="34" charset="-120"/>
              </a:rPr>
              <a:t>Reads the database, never writes</a:t>
            </a:r>
            <a:endParaRPr lang="en-US" sz="2200" dirty="0"/>
          </a:p>
          <a:p>
            <a:pPr marL="342900" indent="-342900">
              <a:spcBef>
                <a:spcPts val="600"/>
              </a:spcBef>
              <a:spcAft>
                <a:spcPts val="800"/>
              </a:spcAft>
              <a:buSzPct val="100000"/>
              <a:buChar char="•"/>
            </a:pPr>
            <a:r>
              <a:rPr lang="en-US" sz="2200" dirty="0">
                <a:solidFill>
                  <a:schemeClr val="tx1"/>
                </a:solidFill>
                <a:latin typeface="Arial" pitchFamily="34" charset="0"/>
                <a:ea typeface="Arial" pitchFamily="34" charset="-122"/>
                <a:cs typeface="Arial" pitchFamily="34" charset="-120"/>
              </a:rPr>
              <a:t>The embedding model is frozen with it</a:t>
            </a:r>
            <a:endParaRPr lang="en-US" sz="2200" dirty="0"/>
          </a:p>
          <a:p>
            <a:pPr marL="342900" indent="-342900">
              <a:spcBef>
                <a:spcPts val="600"/>
              </a:spcBef>
              <a:spcAft>
                <a:spcPts val="800"/>
              </a:spcAft>
              <a:buSzPct val="100000"/>
              <a:buChar char="•"/>
            </a:pPr>
            <a:r>
              <a:rPr lang="en-US" sz="2200" dirty="0">
                <a:solidFill>
                  <a:schemeClr val="tx1"/>
                </a:solidFill>
                <a:latin typeface="Arial" pitchFamily="34" charset="0"/>
                <a:ea typeface="Arial" pitchFamily="34" charset="-122"/>
                <a:cs typeface="Arial" pitchFamily="34" charset="-120"/>
              </a:rPr>
              <a:t>New documents mean a new versioned snapshot</a:t>
            </a:r>
            <a:endParaRPr lang="en-US" sz="2200" dirty="0"/>
          </a:p>
        </p:txBody>
      </p:sp>
      <p:sp>
        <p:nvSpPr>
          <p:cNvPr id="37" name="Slide Number Placeholder 0"/>
          <p:cNvSpPr>
            <a:spLocks noGrp="1"/>
          </p:cNvSpPr>
          <p:nvPr>
            <p:ph type="sldNum" idx="12"/>
          </p:nvPr>
        </p:nvSpPr>
        <p:spPr>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4"/>
                </a:solidFill>
                <a:latin typeface="Arial"/>
                <a:ea typeface="Arial"/>
                <a:cs typeface="Aria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srgbClr val="8C8C8C"/>
                </a:solidFill>
                <a:effectLst/>
                <a:uLnTx/>
                <a:uFillTx/>
                <a:latin typeface="Arial"/>
                <a:cs typeface="Arial"/>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srgbClr val="8C8C8C"/>
              </a:solidFill>
              <a:effectLst/>
              <a:uLnTx/>
              <a:uFillTx/>
              <a:latin typeface="Arial"/>
              <a:cs typeface="Arial"/>
            </a:endParaRPr>
          </a:p>
        </p:txBody>
      </p:sp>
      <p:sp>
        <p:nvSpPr>
          <p:cNvPr id="4" name="Text 2"/>
          <p:cNvSpPr txBox="1"/>
          <p:nvPr/>
        </p:nvSpPr>
        <p:spPr>
          <a:xfrm>
            <a:off x="7086600" y="1572768"/>
            <a:ext cx="443484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tx1"/>
                </a:solidFill>
                <a:effectLst/>
                <a:uLnTx/>
                <a:uFillTx/>
                <a:latin typeface="Arial" pitchFamily="34" charset="0"/>
                <a:ea typeface="Arial" pitchFamily="34" charset="-122"/>
                <a:cs typeface="Arial" pitchFamily="34" charset="-120"/>
              </a:rPr>
              <a:t>Build   </a:t>
            </a:r>
            <a:r>
              <a:rPr kumimoji="0" lang="en-US" sz="1400" i="0" u="none" strike="noStrike" kern="1200" cap="none" spc="0" normalizeH="0" baseline="0" noProof="0" dirty="0">
                <a:ln>
                  <a:noFill/>
                </a:ln>
                <a:solidFill>
                  <a:schemeClr val="tx1"/>
                </a:solidFill>
                <a:effectLst/>
                <a:uLnTx/>
                <a:uFillTx/>
                <a:latin typeface="Arial" pitchFamily="34" charset="0"/>
                <a:ea typeface="Arial" pitchFamily="34" charset="-122"/>
                <a:cs typeface="Arial" pitchFamily="34" charset="-120"/>
              </a:rPr>
              <a:t>runs once, compute-heavy</a:t>
            </a:r>
            <a:endParaRPr kumimoji="0" lang="en-US" sz="1400" i="0" u="none" strike="noStrike" kern="1200" cap="none" spc="0" normalizeH="0" baseline="0" noProof="0" dirty="0">
              <a:ln>
                <a:noFill/>
              </a:ln>
              <a:solidFill>
                <a:schemeClr val="tx1"/>
              </a:solidFill>
              <a:effectLst/>
              <a:uLnTx/>
              <a:uFillTx/>
              <a:latin typeface="Arial"/>
              <a:ea typeface="+mn-ea"/>
              <a:cs typeface="+mn-cs"/>
            </a:endParaRPr>
          </a:p>
        </p:txBody>
      </p:sp>
      <p:sp>
        <p:nvSpPr>
          <p:cNvPr id="5" name="Shape 3"/>
          <p:cNvSpPr/>
          <p:nvPr/>
        </p:nvSpPr>
        <p:spPr>
          <a:xfrm>
            <a:off x="6803136" y="2139696"/>
            <a:ext cx="0" cy="1901952"/>
          </a:xfrm>
          <a:prstGeom prst="line">
            <a:avLst/>
          </a:prstGeom>
          <a:noFill/>
          <a:ln w="25400">
            <a:solidFill>
              <a:schemeClr val="accent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 name="Build step 1"/>
          <p:cNvSpPr/>
          <p:nvPr/>
        </p:nvSpPr>
        <p:spPr>
          <a:xfrm>
            <a:off x="7086600" y="1938528"/>
            <a:ext cx="4434840" cy="402336"/>
          </a:xfrm>
          <a:prstGeom prst="rect">
            <a:avLst/>
          </a:prstGeom>
          <a:noFill/>
          <a:ln>
            <a:solidFill>
              <a:schemeClr val="tx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 name="Text 5"/>
          <p:cNvSpPr txBox="1"/>
          <p:nvPr/>
        </p:nvSpPr>
        <p:spPr>
          <a:xfrm>
            <a:off x="7269480" y="1938528"/>
            <a:ext cx="4069080" cy="4023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Gather documents</a:t>
            </a:r>
            <a:endParaRPr kumimoji="0" lang="en-US" sz="1500" b="0" i="0" u="none" strike="noStrike" kern="1200" cap="none" spc="0" normalizeH="0" baseline="0" noProof="0" dirty="0">
              <a:ln>
                <a:noFill/>
              </a:ln>
              <a:solidFill>
                <a:srgbClr val="000000"/>
              </a:solidFill>
              <a:effectLst/>
              <a:uLnTx/>
              <a:uFillTx/>
              <a:latin typeface="Arial"/>
              <a:ea typeface="+mn-ea"/>
              <a:cs typeface="+mn-cs"/>
            </a:endParaRPr>
          </a:p>
        </p:txBody>
      </p:sp>
      <p:sp>
        <p:nvSpPr>
          <p:cNvPr id="8" name="Shape 6"/>
          <p:cNvSpPr/>
          <p:nvPr/>
        </p:nvSpPr>
        <p:spPr>
          <a:xfrm>
            <a:off x="6620256" y="1956816"/>
            <a:ext cx="365760" cy="365760"/>
          </a:xfrm>
          <a:prstGeom prst="ellipse">
            <a:avLst/>
          </a:pr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9" name="Text 7"/>
          <p:cNvSpPr txBox="1"/>
          <p:nvPr/>
        </p:nvSpPr>
        <p:spPr>
          <a:xfrm>
            <a:off x="6620256" y="1956816"/>
            <a:ext cx="365760" cy="365760"/>
          </a:xfrm>
          <a:prstGeom prst="rect">
            <a:avLst/>
          </a:prstGeom>
          <a:solidFill>
            <a:schemeClr val="bg2"/>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Black" pitchFamily="34" charset="0"/>
                <a:ea typeface="Arial Black" pitchFamily="34" charset="-122"/>
                <a:cs typeface="Arial Black" pitchFamily="34" charset="-120"/>
              </a:rPr>
              <a:t>1</a:t>
            </a:r>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p:txBody>
      </p:sp>
      <p:sp>
        <p:nvSpPr>
          <p:cNvPr id="10" name="Build step 2"/>
          <p:cNvSpPr/>
          <p:nvPr/>
        </p:nvSpPr>
        <p:spPr>
          <a:xfrm>
            <a:off x="7086600" y="2450592"/>
            <a:ext cx="4434840" cy="402336"/>
          </a:xfrm>
          <a:prstGeom prst="rect">
            <a:avLst/>
          </a:prstGeom>
          <a:noFill/>
          <a:ln>
            <a:solidFill>
              <a:schemeClr val="tx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1" name="Text 9"/>
          <p:cNvSpPr txBox="1"/>
          <p:nvPr/>
        </p:nvSpPr>
        <p:spPr>
          <a:xfrm>
            <a:off x="7269480" y="2450592"/>
            <a:ext cx="4069080" cy="4023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Parse with Marker or Docling</a:t>
            </a:r>
            <a:endParaRPr kumimoji="0" lang="en-US" sz="1500" b="0" i="0" u="none" strike="noStrike" kern="1200" cap="none" spc="0" normalizeH="0" baseline="0" noProof="0" dirty="0">
              <a:ln>
                <a:noFill/>
              </a:ln>
              <a:solidFill>
                <a:srgbClr val="000000"/>
              </a:solidFill>
              <a:effectLst/>
              <a:uLnTx/>
              <a:uFillTx/>
              <a:latin typeface="Arial"/>
              <a:ea typeface="+mn-ea"/>
              <a:cs typeface="+mn-cs"/>
            </a:endParaRPr>
          </a:p>
        </p:txBody>
      </p:sp>
      <p:sp>
        <p:nvSpPr>
          <p:cNvPr id="12" name="Shape 10"/>
          <p:cNvSpPr/>
          <p:nvPr/>
        </p:nvSpPr>
        <p:spPr>
          <a:xfrm>
            <a:off x="6620256" y="2468880"/>
            <a:ext cx="365760" cy="365760"/>
          </a:xfrm>
          <a:prstGeom prst="ellipse">
            <a:avLst/>
          </a:pr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3" name="Text 11"/>
          <p:cNvSpPr txBox="1"/>
          <p:nvPr/>
        </p:nvSpPr>
        <p:spPr>
          <a:xfrm>
            <a:off x="6620256" y="2468880"/>
            <a:ext cx="365760" cy="365760"/>
          </a:xfrm>
          <a:prstGeom prst="rect">
            <a:avLst/>
          </a:prstGeom>
          <a:solidFill>
            <a:schemeClr val="bg2"/>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Black" pitchFamily="34" charset="0"/>
                <a:ea typeface="Arial Black" pitchFamily="34" charset="-122"/>
                <a:cs typeface="Arial Black" pitchFamily="34" charset="-120"/>
              </a:rPr>
              <a:t>2</a:t>
            </a:r>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p:txBody>
      </p:sp>
      <p:sp>
        <p:nvSpPr>
          <p:cNvPr id="14" name="Build step 3"/>
          <p:cNvSpPr/>
          <p:nvPr/>
        </p:nvSpPr>
        <p:spPr>
          <a:xfrm>
            <a:off x="7086600" y="2962656"/>
            <a:ext cx="4434840" cy="402336"/>
          </a:xfrm>
          <a:prstGeom prst="rect">
            <a:avLst/>
          </a:prstGeom>
          <a:noFill/>
          <a:ln>
            <a:solidFill>
              <a:schemeClr val="tx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5" name="Text 13"/>
          <p:cNvSpPr txBox="1"/>
          <p:nvPr/>
        </p:nvSpPr>
        <p:spPr>
          <a:xfrm>
            <a:off x="7269480" y="2962656"/>
            <a:ext cx="4069080" cy="4023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Chunk the text and embed each chunk</a:t>
            </a:r>
            <a:endParaRPr kumimoji="0" lang="en-US" sz="1500" b="0" i="0" u="none" strike="noStrike" kern="1200" cap="none" spc="0" normalizeH="0" baseline="0" noProof="0" dirty="0">
              <a:ln>
                <a:noFill/>
              </a:ln>
              <a:solidFill>
                <a:srgbClr val="000000"/>
              </a:solidFill>
              <a:effectLst/>
              <a:uLnTx/>
              <a:uFillTx/>
              <a:latin typeface="Arial"/>
              <a:ea typeface="+mn-ea"/>
              <a:cs typeface="+mn-cs"/>
            </a:endParaRPr>
          </a:p>
        </p:txBody>
      </p:sp>
      <p:sp>
        <p:nvSpPr>
          <p:cNvPr id="16" name="Shape 14"/>
          <p:cNvSpPr/>
          <p:nvPr/>
        </p:nvSpPr>
        <p:spPr>
          <a:xfrm>
            <a:off x="6620256" y="2980944"/>
            <a:ext cx="365760" cy="365760"/>
          </a:xfrm>
          <a:prstGeom prst="ellipse">
            <a:avLst/>
          </a:pr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7" name="Text 15"/>
          <p:cNvSpPr txBox="1"/>
          <p:nvPr/>
        </p:nvSpPr>
        <p:spPr>
          <a:xfrm>
            <a:off x="6620256" y="2980944"/>
            <a:ext cx="365760" cy="365760"/>
          </a:xfrm>
          <a:prstGeom prst="rect">
            <a:avLst/>
          </a:prstGeom>
          <a:solidFill>
            <a:schemeClr val="bg2"/>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Black" pitchFamily="34" charset="0"/>
                <a:ea typeface="Arial Black" pitchFamily="34" charset="-122"/>
                <a:cs typeface="Arial Black" pitchFamily="34" charset="-120"/>
              </a:rPr>
              <a:t>3</a:t>
            </a:r>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p:txBody>
      </p:sp>
      <p:sp>
        <p:nvSpPr>
          <p:cNvPr id="18" name="Build step 4"/>
          <p:cNvSpPr/>
          <p:nvPr/>
        </p:nvSpPr>
        <p:spPr>
          <a:xfrm>
            <a:off x="7086600" y="3474720"/>
            <a:ext cx="4434840" cy="402336"/>
          </a:xfrm>
          <a:prstGeom prst="rect">
            <a:avLst/>
          </a:prstGeom>
          <a:noFill/>
          <a:ln>
            <a:solidFill>
              <a:schemeClr val="tx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9" name="Text 17"/>
          <p:cNvSpPr txBox="1"/>
          <p:nvPr/>
        </p:nvSpPr>
        <p:spPr>
          <a:xfrm>
            <a:off x="7269480" y="3474720"/>
            <a:ext cx="4069080" cy="4023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Write documents and vectors to ChromaDB</a:t>
            </a:r>
            <a:endParaRPr kumimoji="0" lang="en-US" sz="1500" b="0" i="0" u="none" strike="noStrike" kern="1200" cap="none" spc="0" normalizeH="0" baseline="0" noProof="0" dirty="0">
              <a:ln>
                <a:noFill/>
              </a:ln>
              <a:solidFill>
                <a:srgbClr val="000000"/>
              </a:solidFill>
              <a:effectLst/>
              <a:uLnTx/>
              <a:uFillTx/>
              <a:latin typeface="Arial"/>
              <a:ea typeface="+mn-ea"/>
              <a:cs typeface="+mn-cs"/>
            </a:endParaRPr>
          </a:p>
        </p:txBody>
      </p:sp>
      <p:sp>
        <p:nvSpPr>
          <p:cNvPr id="20" name="Shape 18"/>
          <p:cNvSpPr/>
          <p:nvPr/>
        </p:nvSpPr>
        <p:spPr>
          <a:xfrm>
            <a:off x="6620256" y="3493008"/>
            <a:ext cx="365760" cy="365760"/>
          </a:xfrm>
          <a:prstGeom prst="ellipse">
            <a:avLst/>
          </a:pr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1" name="Text 19"/>
          <p:cNvSpPr txBox="1"/>
          <p:nvPr/>
        </p:nvSpPr>
        <p:spPr>
          <a:xfrm>
            <a:off x="6620256" y="3493008"/>
            <a:ext cx="365760" cy="365760"/>
          </a:xfrm>
          <a:prstGeom prst="rect">
            <a:avLst/>
          </a:prstGeom>
          <a:solidFill>
            <a:schemeClr val="bg2"/>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Black" pitchFamily="34" charset="0"/>
                <a:ea typeface="Arial Black" pitchFamily="34" charset="-122"/>
                <a:cs typeface="Arial Black" pitchFamily="34" charset="-120"/>
              </a:rPr>
              <a:t>4</a:t>
            </a:r>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p:txBody>
      </p:sp>
      <p:sp>
        <p:nvSpPr>
          <p:cNvPr id="22" name="Freeze"/>
          <p:cNvSpPr/>
          <p:nvPr/>
        </p:nvSpPr>
        <p:spPr>
          <a:xfrm>
            <a:off x="6583680" y="4041648"/>
            <a:ext cx="4937760" cy="566928"/>
          </a:xfrm>
          <a:prstGeom prst="rect">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pic>
        <p:nvPicPr>
          <p:cNvPr id="23" name="Image 0" descr="preencoded.png"/>
          <p:cNvPicPr>
            <a:picLocks noChangeAspect="1"/>
          </p:cNvPicPr>
          <p:nvPr/>
        </p:nvPicPr>
        <p:blipFill>
          <a:blip r:embed="rId3"/>
          <a:stretch>
            <a:fillRect/>
          </a:stretch>
        </p:blipFill>
        <p:spPr>
          <a:xfrm>
            <a:off x="6638544" y="4160520"/>
            <a:ext cx="329184" cy="329184"/>
          </a:xfrm>
          <a:prstGeom prst="rect">
            <a:avLst/>
          </a:prstGeom>
        </p:spPr>
      </p:pic>
      <p:sp>
        <p:nvSpPr>
          <p:cNvPr id="24" name="Text 21"/>
          <p:cNvSpPr txBox="1"/>
          <p:nvPr/>
        </p:nvSpPr>
        <p:spPr>
          <a:xfrm>
            <a:off x="7086600" y="4041648"/>
            <a:ext cx="4251960"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Freeze as versioned snapshot v1.0</a:t>
            </a:r>
            <a:endParaRPr kumimoji="0" lang="en-US" sz="1700" b="0" i="0" u="none" strike="noStrike" kern="1200" cap="none" spc="0" normalizeH="0" baseline="0" noProof="0" dirty="0">
              <a:ln>
                <a:noFill/>
              </a:ln>
              <a:solidFill>
                <a:srgbClr val="000000"/>
              </a:solidFill>
              <a:effectLst/>
              <a:uLnTx/>
              <a:uFillTx/>
              <a:latin typeface="Arial"/>
              <a:ea typeface="+mn-ea"/>
              <a:cs typeface="+mn-cs"/>
            </a:endParaRPr>
          </a:p>
        </p:txBody>
      </p:sp>
      <p:sp>
        <p:nvSpPr>
          <p:cNvPr id="25" name="Shape 22"/>
          <p:cNvSpPr/>
          <p:nvPr/>
        </p:nvSpPr>
        <p:spPr>
          <a:xfrm>
            <a:off x="6803136" y="4608576"/>
            <a:ext cx="0" cy="530352"/>
          </a:xfrm>
          <a:prstGeom prst="line">
            <a:avLst/>
          </a:prstGeom>
          <a:noFill/>
          <a:ln w="25400">
            <a:solidFill>
              <a:schemeClr val="accent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6" name="Text 23"/>
          <p:cNvSpPr txBox="1"/>
          <p:nvPr/>
        </p:nvSpPr>
        <p:spPr>
          <a:xfrm>
            <a:off x="7086600" y="4736592"/>
            <a:ext cx="443484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Query</a:t>
            </a:r>
            <a:r>
              <a:rPr kumimoji="0" lang="en-US" sz="1400" b="0" i="0" u="none" strike="noStrike" kern="1200" cap="none" spc="0" normalizeH="0" baseline="0" noProof="0" dirty="0">
                <a:ln>
                  <a:noFill/>
                </a:ln>
                <a:solidFill>
                  <a:srgbClr val="404040"/>
                </a:solidFill>
                <a:effectLst/>
                <a:uLnTx/>
                <a:uFillTx/>
                <a:latin typeface="Arial" pitchFamily="34" charset="0"/>
                <a:ea typeface="Arial" pitchFamily="34" charset="-122"/>
                <a:cs typeface="Arial" pitchFamily="34" charset="-120"/>
              </a:rPr>
              <a:t>   every question, read-only</a:t>
            </a:r>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p:txBody>
      </p:sp>
      <p:sp>
        <p:nvSpPr>
          <p:cNvPr id="27" name="Query loop"/>
          <p:cNvSpPr/>
          <p:nvPr/>
        </p:nvSpPr>
        <p:spPr>
          <a:xfrm>
            <a:off x="6583680" y="5138928"/>
            <a:ext cx="4937760" cy="987552"/>
          </a:xfrm>
          <a:prstGeom prst="rect">
            <a:avLst/>
          </a:prstGeom>
          <a:ln w="15875">
            <a:solidFill>
              <a:schemeClr val="tx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8" name="Shape 25"/>
          <p:cNvSpPr/>
          <p:nvPr/>
        </p:nvSpPr>
        <p:spPr>
          <a:xfrm>
            <a:off x="6766560" y="5248656"/>
            <a:ext cx="1280160" cy="402336"/>
          </a:xfrm>
          <a:prstGeom prst="roundRect">
            <a:avLst>
              <a:gd name="adj" fmla="val 18182"/>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9" name="Text 26"/>
          <p:cNvSpPr txBox="1"/>
          <p:nvPr/>
        </p:nvSpPr>
        <p:spPr>
          <a:xfrm>
            <a:off x="6766560" y="5248656"/>
            <a:ext cx="1280160" cy="402336"/>
          </a:xfrm>
          <a:prstGeom prst="rect">
            <a:avLst/>
          </a:prstGeom>
          <a:solidFill>
            <a:schemeClr val="bg1"/>
          </a:solidFill>
          <a:ln w="19050">
            <a:solidFill>
              <a:schemeClr val="tx1"/>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Question</a:t>
            </a:r>
            <a:endParaRPr kumimoji="0" lang="en-US" sz="1300" b="0" i="0" u="none" strike="noStrike" kern="1200" cap="none" spc="0" normalizeH="0" baseline="0" noProof="0" dirty="0">
              <a:ln>
                <a:noFill/>
              </a:ln>
              <a:solidFill>
                <a:srgbClr val="000000"/>
              </a:solidFill>
              <a:effectLst/>
              <a:uLnTx/>
              <a:uFillTx/>
              <a:latin typeface="Arial"/>
              <a:ea typeface="+mn-ea"/>
              <a:cs typeface="+mn-cs"/>
            </a:endParaRPr>
          </a:p>
        </p:txBody>
      </p:sp>
      <p:sp>
        <p:nvSpPr>
          <p:cNvPr id="30" name="Shape 27"/>
          <p:cNvSpPr/>
          <p:nvPr/>
        </p:nvSpPr>
        <p:spPr>
          <a:xfrm>
            <a:off x="8083296" y="5449824"/>
            <a:ext cx="201168" cy="0"/>
          </a:xfrm>
          <a:prstGeom prst="line">
            <a:avLst/>
          </a:prstGeom>
          <a:noFill/>
          <a:ln w="19050">
            <a:solidFill>
              <a:schemeClr val="tx1"/>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1" name="Shape 28"/>
          <p:cNvSpPr/>
          <p:nvPr/>
        </p:nvSpPr>
        <p:spPr>
          <a:xfrm>
            <a:off x="8321040" y="5248656"/>
            <a:ext cx="1280160" cy="402336"/>
          </a:xfrm>
          <a:prstGeom prst="roundRect">
            <a:avLst>
              <a:gd name="adj" fmla="val 18182"/>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2" name="Text 29"/>
          <p:cNvSpPr txBox="1"/>
          <p:nvPr/>
        </p:nvSpPr>
        <p:spPr>
          <a:xfrm>
            <a:off x="8321040" y="5248656"/>
            <a:ext cx="1280160" cy="402336"/>
          </a:xfrm>
          <a:prstGeom prst="rect">
            <a:avLst/>
          </a:prstGeom>
          <a:solidFill>
            <a:schemeClr val="bg1"/>
          </a:solidFill>
          <a:ln w="19050">
            <a:solidFill>
              <a:schemeClr val="tx1"/>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Nearest chunks</a:t>
            </a:r>
            <a:endParaRPr kumimoji="0" lang="en-US" sz="1300" b="0" i="0" u="none" strike="noStrike" kern="1200" cap="none" spc="0" normalizeH="0" baseline="0" noProof="0" dirty="0">
              <a:ln>
                <a:noFill/>
              </a:ln>
              <a:solidFill>
                <a:srgbClr val="000000"/>
              </a:solidFill>
              <a:effectLst/>
              <a:uLnTx/>
              <a:uFillTx/>
              <a:latin typeface="Arial"/>
              <a:ea typeface="+mn-ea"/>
              <a:cs typeface="+mn-cs"/>
            </a:endParaRPr>
          </a:p>
        </p:txBody>
      </p:sp>
      <p:sp>
        <p:nvSpPr>
          <p:cNvPr id="33" name="Shape 30"/>
          <p:cNvSpPr/>
          <p:nvPr/>
        </p:nvSpPr>
        <p:spPr>
          <a:xfrm>
            <a:off x="9637776" y="5449824"/>
            <a:ext cx="201168" cy="0"/>
          </a:xfrm>
          <a:prstGeom prst="line">
            <a:avLst/>
          </a:prstGeom>
          <a:noFill/>
          <a:ln w="19050">
            <a:solidFill>
              <a:schemeClr val="tx1"/>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4" name="Shape 31"/>
          <p:cNvSpPr/>
          <p:nvPr/>
        </p:nvSpPr>
        <p:spPr>
          <a:xfrm>
            <a:off x="9875520" y="5248656"/>
            <a:ext cx="1280160" cy="402336"/>
          </a:xfrm>
          <a:prstGeom prst="roundRect">
            <a:avLst>
              <a:gd name="adj" fmla="val 18182"/>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5" name="Text 32"/>
          <p:cNvSpPr txBox="1"/>
          <p:nvPr/>
        </p:nvSpPr>
        <p:spPr>
          <a:xfrm>
            <a:off x="9875520" y="5248656"/>
            <a:ext cx="1280160" cy="402336"/>
          </a:xfrm>
          <a:prstGeom prst="rect">
            <a:avLst/>
          </a:prstGeom>
          <a:solidFill>
            <a:schemeClr val="bg1"/>
          </a:solidFill>
          <a:ln w="19050">
            <a:solidFill>
              <a:schemeClr val="tx1"/>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Cited answer</a:t>
            </a:r>
            <a:endParaRPr kumimoji="0" lang="en-US" sz="1300" b="0" i="0" u="none" strike="noStrike" kern="1200" cap="none" spc="0" normalizeH="0" baseline="0" noProof="0" dirty="0">
              <a:ln>
                <a:noFill/>
              </a:ln>
              <a:solidFill>
                <a:srgbClr val="000000"/>
              </a:solidFill>
              <a:effectLst/>
              <a:uLnTx/>
              <a:uFillTx/>
              <a:latin typeface="Arial"/>
              <a:ea typeface="+mn-ea"/>
              <a:cs typeface="+mn-cs"/>
            </a:endParaRPr>
          </a:p>
        </p:txBody>
      </p:sp>
      <p:sp>
        <p:nvSpPr>
          <p:cNvPr id="36" name="Text 33"/>
          <p:cNvSpPr txBox="1"/>
          <p:nvPr/>
        </p:nvSpPr>
        <p:spPr>
          <a:xfrm>
            <a:off x="6766560" y="5724144"/>
            <a:ext cx="4572000" cy="292608"/>
          </a:xfrm>
          <a:prstGeom prst="rect">
            <a:avLst/>
          </a:prstGeom>
          <a:noFill/>
          <a:ln>
            <a:solidFill>
              <a:schemeClr val="tx1"/>
            </a:solid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1" u="none" strike="noStrike" kern="1200" cap="none" spc="0" normalizeH="0" baseline="0" noProof="0" dirty="0">
                <a:ln>
                  <a:noFill/>
                </a:ln>
                <a:solidFill>
                  <a:srgbClr val="404040"/>
                </a:solidFill>
                <a:effectLst/>
                <a:uLnTx/>
                <a:uFillTx/>
                <a:latin typeface="Arial" pitchFamily="34" charset="0"/>
                <a:ea typeface="Arial" pitchFamily="34" charset="-122"/>
                <a:cs typeface="Arial" pitchFamily="34" charset="-120"/>
              </a:rPr>
              <a:t>Reads the snapshot. Nothing writes back.</a:t>
            </a:r>
            <a:endParaRPr kumimoji="0" lang="en-US" sz="1300" b="0" i="0" u="none" strike="noStrike" kern="1200" cap="none" spc="0" normalizeH="0" baseline="0" noProof="0" dirty="0">
              <a:ln>
                <a:noFill/>
              </a:ln>
              <a:solidFill>
                <a:srgbClr val="000000"/>
              </a:solidFill>
              <a:effectLst/>
              <a:uLnTx/>
              <a:uFillTx/>
              <a:latin typeface="Arial"/>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2BBB2-E3E5-1D35-497E-96C035844D1F}"/>
              </a:ext>
            </a:extLst>
          </p:cNvPr>
          <p:cNvSpPr>
            <a:spLocks noGrp="1"/>
          </p:cNvSpPr>
          <p:nvPr>
            <p:ph type="title"/>
          </p:nvPr>
        </p:nvSpPr>
        <p:spPr/>
        <p:txBody>
          <a:bodyPr/>
          <a:lstStyle/>
          <a:p>
            <a:r>
              <a:rPr lang="en-US" dirty="0"/>
              <a:t>RAG</a:t>
            </a:r>
          </a:p>
        </p:txBody>
      </p:sp>
      <p:sp>
        <p:nvSpPr>
          <p:cNvPr id="3" name="Text Placeholder 2">
            <a:extLst>
              <a:ext uri="{FF2B5EF4-FFF2-40B4-BE49-F238E27FC236}">
                <a16:creationId xmlns:a16="http://schemas.microsoft.com/office/drawing/2014/main" id="{7078E73C-9FB5-05F4-903E-B55DFB409DB7}"/>
              </a:ext>
            </a:extLst>
          </p:cNvPr>
          <p:cNvSpPr>
            <a:spLocks noGrp="1"/>
          </p:cNvSpPr>
          <p:nvPr>
            <p:ph type="body" idx="1"/>
          </p:nvPr>
        </p:nvSpPr>
        <p:spPr/>
        <p:txBody>
          <a:bodyPr>
            <a:normAutofit/>
          </a:bodyPr>
          <a:lstStyle/>
          <a:p>
            <a:r>
              <a:rPr lang="en-US" sz="2000" dirty="0"/>
              <a:t>Document Classifier </a:t>
            </a:r>
          </a:p>
          <a:p>
            <a:pPr lvl="1"/>
            <a:r>
              <a:rPr lang="en-US" sz="1600" dirty="0"/>
              <a:t>To determine parser and profile to use for optimal system resource usage and time.</a:t>
            </a:r>
          </a:p>
          <a:p>
            <a:r>
              <a:rPr lang="en-US" sz="2000" dirty="0"/>
              <a:t>Marker and Docling</a:t>
            </a:r>
          </a:p>
          <a:p>
            <a:pPr lvl="1"/>
            <a:r>
              <a:rPr lang="en-US" sz="1800" dirty="0"/>
              <a:t>Parsing engines </a:t>
            </a:r>
          </a:p>
          <a:p>
            <a:pPr lvl="1"/>
            <a:r>
              <a:rPr lang="en-US" sz="1800" dirty="0"/>
              <a:t>Can parse multiple formats </a:t>
            </a:r>
          </a:p>
          <a:p>
            <a:pPr lvl="2"/>
            <a:r>
              <a:rPr lang="en-US" sz="1400" dirty="0"/>
              <a:t>PDF, DOCX, CSV, PPTX, XLSX</a:t>
            </a:r>
            <a:endParaRPr lang="en-US" sz="1050" dirty="0"/>
          </a:p>
          <a:p>
            <a:pPr lvl="1"/>
            <a:r>
              <a:rPr lang="en-US" sz="1800" dirty="0"/>
              <a:t>Both capable of OCR</a:t>
            </a:r>
          </a:p>
          <a:p>
            <a:pPr lvl="2"/>
            <a:r>
              <a:rPr lang="en-US" sz="1400" dirty="0"/>
              <a:t>Docling: </a:t>
            </a:r>
            <a:r>
              <a:rPr lang="en-US" sz="1400" dirty="0" err="1"/>
              <a:t>EasyOCR</a:t>
            </a:r>
            <a:endParaRPr lang="en-US" sz="1400" dirty="0"/>
          </a:p>
          <a:p>
            <a:pPr lvl="2"/>
            <a:r>
              <a:rPr lang="en-US" sz="1400" dirty="0"/>
              <a:t>Marker: Surya</a:t>
            </a:r>
          </a:p>
          <a:p>
            <a:pPr lvl="1"/>
            <a:r>
              <a:rPr lang="en-US" sz="1800" dirty="0"/>
              <a:t>Marker for scientific papers and Docling for general documents.</a:t>
            </a:r>
          </a:p>
          <a:p>
            <a:endParaRPr lang="en-US" sz="2200" dirty="0"/>
          </a:p>
        </p:txBody>
      </p:sp>
      <p:sp>
        <p:nvSpPr>
          <p:cNvPr id="4" name="Slide Number Placeholder 3">
            <a:extLst>
              <a:ext uri="{FF2B5EF4-FFF2-40B4-BE49-F238E27FC236}">
                <a16:creationId xmlns:a16="http://schemas.microsoft.com/office/drawing/2014/main" id="{D09341DC-8CFF-0BC6-57C9-C6BAB4E028AD}"/>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6</a:t>
            </a:fld>
            <a:endParaRPr lang="en-US"/>
          </a:p>
        </p:txBody>
      </p:sp>
      <p:pic>
        <p:nvPicPr>
          <p:cNvPr id="7" name="Picture 6" descr="Docling Project · GitHub">
            <a:extLst>
              <a:ext uri="{FF2B5EF4-FFF2-40B4-BE49-F238E27FC236}">
                <a16:creationId xmlns:a16="http://schemas.microsoft.com/office/drawing/2014/main" id="{55B598A4-AD13-FE92-33AE-CFECE94DB0B6}"/>
              </a:ext>
            </a:extLst>
          </p:cNvPr>
          <p:cNvPicPr>
            <a:picLocks noChangeAspect="1"/>
          </p:cNvPicPr>
          <p:nvPr/>
        </p:nvPicPr>
        <p:blipFill>
          <a:blip r:embed="rId3"/>
          <a:stretch>
            <a:fillRect/>
          </a:stretch>
        </p:blipFill>
        <p:spPr>
          <a:xfrm>
            <a:off x="7812385" y="517923"/>
            <a:ext cx="2743200" cy="2743200"/>
          </a:xfrm>
          <a:prstGeom prst="rect">
            <a:avLst/>
          </a:prstGeom>
        </p:spPr>
      </p:pic>
      <p:pic>
        <p:nvPicPr>
          <p:cNvPr id="9" name="Picture 8" descr="GitHub - datalab-to/marker: Convert PDF to markdown + JSON quickly with  high accuracy · GitHub">
            <a:extLst>
              <a:ext uri="{FF2B5EF4-FFF2-40B4-BE49-F238E27FC236}">
                <a16:creationId xmlns:a16="http://schemas.microsoft.com/office/drawing/2014/main" id="{08C17EDB-B68F-43F9-00E8-D58E89C38ACB}"/>
              </a:ext>
            </a:extLst>
          </p:cNvPr>
          <p:cNvPicPr>
            <a:picLocks noChangeAspect="1"/>
          </p:cNvPicPr>
          <p:nvPr/>
        </p:nvPicPr>
        <p:blipFill>
          <a:blip r:embed="rId4"/>
          <a:stretch>
            <a:fillRect/>
          </a:stretch>
        </p:blipFill>
        <p:spPr>
          <a:xfrm>
            <a:off x="7812385" y="3261123"/>
            <a:ext cx="2743200" cy="2743200"/>
          </a:xfrm>
          <a:prstGeom prst="rect">
            <a:avLst/>
          </a:prstGeom>
        </p:spPr>
      </p:pic>
      <p:sp>
        <p:nvSpPr>
          <p:cNvPr id="10" name="TextBox 9">
            <a:extLst>
              <a:ext uri="{FF2B5EF4-FFF2-40B4-BE49-F238E27FC236}">
                <a16:creationId xmlns:a16="http://schemas.microsoft.com/office/drawing/2014/main" id="{B3DC59D1-4176-1310-8675-6E9503CBFB79}"/>
              </a:ext>
            </a:extLst>
          </p:cNvPr>
          <p:cNvSpPr txBox="1"/>
          <p:nvPr/>
        </p:nvSpPr>
        <p:spPr>
          <a:xfrm>
            <a:off x="1342292" y="6004323"/>
            <a:ext cx="4753708" cy="430887"/>
          </a:xfrm>
          <a:prstGeom prst="rect">
            <a:avLst/>
          </a:prstGeom>
          <a:noFill/>
        </p:spPr>
        <p:txBody>
          <a:bodyPr wrap="square" rtlCol="0">
            <a:spAutoFit/>
          </a:bodyPr>
          <a:lstStyle/>
          <a:p>
            <a:pPr marL="285750" indent="-285750">
              <a:buFont typeface="Arial" panose="020B0604020202020204" pitchFamily="34" charset="0"/>
              <a:buChar char="•"/>
            </a:pPr>
            <a:r>
              <a:rPr lang="en-US" sz="1100" dirty="0">
                <a:hlinkClick r:id="rId5"/>
              </a:rPr>
              <a:t>https://github.com/datalab-to/marker.git</a:t>
            </a:r>
            <a:endParaRPr lang="en-US" sz="1100" dirty="0"/>
          </a:p>
          <a:p>
            <a:pPr marL="285750" indent="-285750">
              <a:buFont typeface="Arial" panose="020B0604020202020204" pitchFamily="34" charset="0"/>
              <a:buChar char="•"/>
            </a:pPr>
            <a:r>
              <a:rPr lang="en-US" sz="1100" dirty="0">
                <a:hlinkClick r:id="rId6"/>
              </a:rPr>
              <a:t>https://github.com/docling-project/docling.git</a:t>
            </a:r>
            <a:endParaRPr lang="en-US" sz="1100" dirty="0"/>
          </a:p>
        </p:txBody>
      </p:sp>
    </p:spTree>
    <p:extLst>
      <p:ext uri="{BB962C8B-B14F-4D97-AF65-F5344CB8AC3E}">
        <p14:creationId xmlns:p14="http://schemas.microsoft.com/office/powerpoint/2010/main" val="40016456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FF7FC-1A6E-C34E-0441-2F16F5C1D0AE}"/>
              </a:ext>
            </a:extLst>
          </p:cNvPr>
          <p:cNvSpPr>
            <a:spLocks noGrp="1"/>
          </p:cNvSpPr>
          <p:nvPr>
            <p:ph type="title"/>
          </p:nvPr>
        </p:nvSpPr>
        <p:spPr/>
        <p:txBody>
          <a:bodyPr/>
          <a:lstStyle/>
          <a:p>
            <a:r>
              <a:rPr lang="en-US" dirty="0"/>
              <a:t>Parsing Docling</a:t>
            </a:r>
          </a:p>
        </p:txBody>
      </p:sp>
      <p:sp>
        <p:nvSpPr>
          <p:cNvPr id="3" name="Text Placeholder 2">
            <a:extLst>
              <a:ext uri="{FF2B5EF4-FFF2-40B4-BE49-F238E27FC236}">
                <a16:creationId xmlns:a16="http://schemas.microsoft.com/office/drawing/2014/main" id="{031BC08E-A6BF-2C61-6ED3-DADC76FEBCE3}"/>
              </a:ext>
            </a:extLst>
          </p:cNvPr>
          <p:cNvSpPr>
            <a:spLocks noGrp="1"/>
          </p:cNvSpPr>
          <p:nvPr>
            <p:ph type="body" idx="1"/>
          </p:nvPr>
        </p:nvSpPr>
        <p:spPr/>
        <p:txBody>
          <a:bodyPr>
            <a:normAutofit/>
          </a:bodyPr>
          <a:lstStyle/>
          <a:p>
            <a:r>
              <a:rPr lang="en-US" sz="2400" dirty="0"/>
              <a:t>Current capabilities</a:t>
            </a:r>
          </a:p>
          <a:p>
            <a:pPr lvl="1"/>
            <a:r>
              <a:rPr lang="en-US" sz="1800" dirty="0"/>
              <a:t>Pulls text, images, and tables. </a:t>
            </a:r>
          </a:p>
          <a:p>
            <a:pPr lvl="1"/>
            <a:r>
              <a:rPr lang="en-US" sz="1800" dirty="0"/>
              <a:t>Identification of object type via optical character recognition. </a:t>
            </a:r>
          </a:p>
          <a:p>
            <a:pPr lvl="2"/>
            <a:r>
              <a:rPr lang="en-US" sz="1400" dirty="0"/>
              <a:t>Table, images, captions, body text, Formulas etc.</a:t>
            </a:r>
          </a:p>
          <a:p>
            <a:r>
              <a:rPr lang="en-US" sz="2200" dirty="0"/>
              <a:t>Example document: Docling Technical Report</a:t>
            </a:r>
          </a:p>
          <a:p>
            <a:endParaRPr lang="en-US" sz="2200" dirty="0"/>
          </a:p>
        </p:txBody>
      </p:sp>
      <p:sp>
        <p:nvSpPr>
          <p:cNvPr id="4" name="Slide Number Placeholder 3">
            <a:extLst>
              <a:ext uri="{FF2B5EF4-FFF2-40B4-BE49-F238E27FC236}">
                <a16:creationId xmlns:a16="http://schemas.microsoft.com/office/drawing/2014/main" id="{D970DD7B-A2C5-54B9-0B75-35FB3165F664}"/>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7</a:t>
            </a:fld>
            <a:endParaRPr lang="en-US" dirty="0"/>
          </a:p>
        </p:txBody>
      </p:sp>
      <p:sp>
        <p:nvSpPr>
          <p:cNvPr id="5" name="TextBox 4">
            <a:extLst>
              <a:ext uri="{FF2B5EF4-FFF2-40B4-BE49-F238E27FC236}">
                <a16:creationId xmlns:a16="http://schemas.microsoft.com/office/drawing/2014/main" id="{F7AF0808-2830-D66D-3353-FD04124B5EF9}"/>
              </a:ext>
            </a:extLst>
          </p:cNvPr>
          <p:cNvSpPr txBox="1"/>
          <p:nvPr/>
        </p:nvSpPr>
        <p:spPr>
          <a:xfrm>
            <a:off x="1332357" y="5925275"/>
            <a:ext cx="5643939" cy="430887"/>
          </a:xfrm>
          <a:prstGeom prst="rect">
            <a:avLst/>
          </a:prstGeom>
          <a:noFill/>
        </p:spPr>
        <p:txBody>
          <a:bodyPr wrap="square" rtlCol="0">
            <a:spAutoFit/>
          </a:bodyPr>
          <a:lstStyle/>
          <a:p>
            <a:r>
              <a:rPr lang="en-US" sz="1050" dirty="0"/>
              <a:t>Auer, Christoph, et al. “Docling Technical Report.” </a:t>
            </a:r>
            <a:r>
              <a:rPr lang="en-US" sz="1050" i="1" dirty="0" err="1"/>
              <a:t>arXiv</a:t>
            </a:r>
            <a:r>
              <a:rPr lang="en-US" sz="1050" dirty="0"/>
              <a:t>, 2024, </a:t>
            </a:r>
            <a:r>
              <a:rPr lang="en-US" sz="1050" dirty="0">
                <a:hlinkClick r:id="rId2"/>
              </a:rPr>
              <a:t>https://doi.org/10.48550/arXiv.2408.09869</a:t>
            </a:r>
            <a:r>
              <a:rPr lang="en-US" sz="1050" dirty="0"/>
              <a:t>.</a:t>
            </a:r>
          </a:p>
        </p:txBody>
      </p:sp>
      <p:pic>
        <p:nvPicPr>
          <p:cNvPr id="7" name="Picture 6">
            <a:extLst>
              <a:ext uri="{FF2B5EF4-FFF2-40B4-BE49-F238E27FC236}">
                <a16:creationId xmlns:a16="http://schemas.microsoft.com/office/drawing/2014/main" id="{48EEC70A-C4B7-7E5A-F98C-B9BCAE24C659}"/>
              </a:ext>
            </a:extLst>
          </p:cNvPr>
          <p:cNvPicPr>
            <a:picLocks noChangeAspect="1"/>
          </p:cNvPicPr>
          <p:nvPr/>
        </p:nvPicPr>
        <p:blipFill>
          <a:blip r:embed="rId3"/>
          <a:srcRect l="535"/>
          <a:stretch>
            <a:fillRect/>
          </a:stretch>
        </p:blipFill>
        <p:spPr>
          <a:xfrm>
            <a:off x="6743289" y="493845"/>
            <a:ext cx="4527214" cy="5870310"/>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11416787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6F0A6-62E2-B7BE-AD9F-A7F4163E0B1F}"/>
              </a:ext>
            </a:extLst>
          </p:cNvPr>
          <p:cNvSpPr>
            <a:spLocks noGrp="1"/>
          </p:cNvSpPr>
          <p:nvPr>
            <p:ph type="title"/>
          </p:nvPr>
        </p:nvSpPr>
        <p:spPr/>
        <p:txBody>
          <a:bodyPr/>
          <a:lstStyle/>
          <a:p>
            <a:r>
              <a:rPr lang="en-US" dirty="0"/>
              <a:t>Docling Feature extraction (tables)</a:t>
            </a:r>
          </a:p>
        </p:txBody>
      </p:sp>
      <p:sp>
        <p:nvSpPr>
          <p:cNvPr id="3" name="Text Placeholder 2">
            <a:extLst>
              <a:ext uri="{FF2B5EF4-FFF2-40B4-BE49-F238E27FC236}">
                <a16:creationId xmlns:a16="http://schemas.microsoft.com/office/drawing/2014/main" id="{3608F0EF-1477-91CA-3D29-FA9802777254}"/>
              </a:ext>
            </a:extLst>
          </p:cNvPr>
          <p:cNvSpPr>
            <a:spLocks noGrp="1"/>
          </p:cNvSpPr>
          <p:nvPr>
            <p:ph type="body" idx="1"/>
          </p:nvPr>
        </p:nvSpPr>
        <p:spPr/>
        <p:txBody>
          <a:bodyPr>
            <a:normAutofit/>
          </a:bodyPr>
          <a:lstStyle/>
          <a:p>
            <a:r>
              <a:rPr lang="en-US" sz="1800" dirty="0"/>
              <a:t>Parsing of tables</a:t>
            </a:r>
          </a:p>
          <a:p>
            <a:pPr lvl="1"/>
            <a:r>
              <a:rPr lang="en-US" sz="1600" dirty="0"/>
              <a:t>Will preserve table header if table exceeds chunk size for maintaining semantic</a:t>
            </a:r>
          </a:p>
        </p:txBody>
      </p:sp>
      <p:sp>
        <p:nvSpPr>
          <p:cNvPr id="4" name="Slide Number Placeholder 3">
            <a:extLst>
              <a:ext uri="{FF2B5EF4-FFF2-40B4-BE49-F238E27FC236}">
                <a16:creationId xmlns:a16="http://schemas.microsoft.com/office/drawing/2014/main" id="{03CBBB0E-0311-BB1C-6A9F-C4132A535344}"/>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8</a:t>
            </a:fld>
            <a:endParaRPr lang="en-US"/>
          </a:p>
        </p:txBody>
      </p:sp>
      <p:pic>
        <p:nvPicPr>
          <p:cNvPr id="6" name="Picture 5">
            <a:extLst>
              <a:ext uri="{FF2B5EF4-FFF2-40B4-BE49-F238E27FC236}">
                <a16:creationId xmlns:a16="http://schemas.microsoft.com/office/drawing/2014/main" id="{AADBD072-CFD0-8E42-DBE8-188435FCD779}"/>
              </a:ext>
            </a:extLst>
          </p:cNvPr>
          <p:cNvPicPr>
            <a:picLocks noChangeAspect="1"/>
          </p:cNvPicPr>
          <p:nvPr/>
        </p:nvPicPr>
        <p:blipFill>
          <a:blip r:embed="rId2"/>
          <a:stretch>
            <a:fillRect/>
          </a:stretch>
        </p:blipFill>
        <p:spPr>
          <a:xfrm>
            <a:off x="670616" y="2788615"/>
            <a:ext cx="4150757" cy="3748582"/>
          </a:xfrm>
          <a:prstGeom prst="rect">
            <a:avLst/>
          </a:prstGeom>
        </p:spPr>
      </p:pic>
      <p:pic>
        <p:nvPicPr>
          <p:cNvPr id="8" name="Picture 7">
            <a:extLst>
              <a:ext uri="{FF2B5EF4-FFF2-40B4-BE49-F238E27FC236}">
                <a16:creationId xmlns:a16="http://schemas.microsoft.com/office/drawing/2014/main" id="{2AD27190-2ED4-B285-09B9-9EE065B114E5}"/>
              </a:ext>
            </a:extLst>
          </p:cNvPr>
          <p:cNvPicPr>
            <a:picLocks noChangeAspect="1"/>
          </p:cNvPicPr>
          <p:nvPr/>
        </p:nvPicPr>
        <p:blipFill>
          <a:blip r:embed="rId3"/>
          <a:stretch>
            <a:fillRect/>
          </a:stretch>
        </p:blipFill>
        <p:spPr>
          <a:xfrm>
            <a:off x="5403855" y="3039396"/>
            <a:ext cx="6419402" cy="1838567"/>
          </a:xfrm>
          <a:prstGeom prst="rect">
            <a:avLst/>
          </a:prstGeom>
        </p:spPr>
      </p:pic>
      <p:sp>
        <p:nvSpPr>
          <p:cNvPr id="9" name="Rectangle 8">
            <a:extLst>
              <a:ext uri="{FF2B5EF4-FFF2-40B4-BE49-F238E27FC236}">
                <a16:creationId xmlns:a16="http://schemas.microsoft.com/office/drawing/2014/main" id="{C0514210-B712-8E28-5B8A-69F9499E51E3}"/>
              </a:ext>
            </a:extLst>
          </p:cNvPr>
          <p:cNvSpPr/>
          <p:nvPr/>
        </p:nvSpPr>
        <p:spPr>
          <a:xfrm>
            <a:off x="722568" y="3175454"/>
            <a:ext cx="4098805" cy="154105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CE36C69E-7248-0BC7-3BB6-927C9D25B6AB}"/>
              </a:ext>
            </a:extLst>
          </p:cNvPr>
          <p:cNvCxnSpPr>
            <a:cxnSpLocks/>
          </p:cNvCxnSpPr>
          <p:nvPr/>
        </p:nvCxnSpPr>
        <p:spPr>
          <a:xfrm flipV="1">
            <a:off x="4821373" y="3039396"/>
            <a:ext cx="582482" cy="136058"/>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13" name="Straight Connector 12">
            <a:extLst>
              <a:ext uri="{FF2B5EF4-FFF2-40B4-BE49-F238E27FC236}">
                <a16:creationId xmlns:a16="http://schemas.microsoft.com/office/drawing/2014/main" id="{D9B8C85F-A413-891F-E7E9-9618ED6AD78D}"/>
              </a:ext>
            </a:extLst>
          </p:cNvPr>
          <p:cNvCxnSpPr>
            <a:cxnSpLocks/>
          </p:cNvCxnSpPr>
          <p:nvPr/>
        </p:nvCxnSpPr>
        <p:spPr>
          <a:xfrm>
            <a:off x="4821373" y="4716506"/>
            <a:ext cx="582482" cy="161457"/>
          </a:xfrm>
          <a:prstGeom prst="line">
            <a:avLst/>
          </a:prstGeom>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33817106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E961C-9E57-1F3D-9D5F-2D5ADF178D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A6297D-3C30-D6AF-EC81-78943E894C99}"/>
              </a:ext>
            </a:extLst>
          </p:cNvPr>
          <p:cNvSpPr>
            <a:spLocks noGrp="1"/>
          </p:cNvSpPr>
          <p:nvPr>
            <p:ph type="title"/>
          </p:nvPr>
        </p:nvSpPr>
        <p:spPr/>
        <p:txBody>
          <a:bodyPr/>
          <a:lstStyle/>
          <a:p>
            <a:r>
              <a:rPr lang="en-US" dirty="0"/>
              <a:t>Docling Feature extraction (images)</a:t>
            </a:r>
          </a:p>
        </p:txBody>
      </p:sp>
      <p:sp>
        <p:nvSpPr>
          <p:cNvPr id="3" name="Text Placeholder 2">
            <a:extLst>
              <a:ext uri="{FF2B5EF4-FFF2-40B4-BE49-F238E27FC236}">
                <a16:creationId xmlns:a16="http://schemas.microsoft.com/office/drawing/2014/main" id="{E2E83AFF-B073-3359-1ABF-9F263D4BD14C}"/>
              </a:ext>
            </a:extLst>
          </p:cNvPr>
          <p:cNvSpPr>
            <a:spLocks noGrp="1"/>
          </p:cNvSpPr>
          <p:nvPr>
            <p:ph type="body" idx="1"/>
          </p:nvPr>
        </p:nvSpPr>
        <p:spPr/>
        <p:txBody>
          <a:bodyPr>
            <a:normAutofit/>
          </a:bodyPr>
          <a:lstStyle/>
          <a:p>
            <a:r>
              <a:rPr lang="en-US" sz="1400" dirty="0"/>
              <a:t>Image Extraction</a:t>
            </a:r>
          </a:p>
          <a:p>
            <a:pPr lvl="1"/>
            <a:r>
              <a:rPr lang="en-US" sz="1200" dirty="0"/>
              <a:t>Image object extracted via pipeline</a:t>
            </a:r>
          </a:p>
          <a:p>
            <a:pPr lvl="1"/>
            <a:r>
              <a:rPr lang="en-US" sz="1200" dirty="0"/>
              <a:t>Provides a uniform resource identifier (URI) to link image to parsed output.</a:t>
            </a:r>
          </a:p>
          <a:p>
            <a:pPr lvl="1"/>
            <a:endParaRPr lang="en-US" sz="1200" dirty="0"/>
          </a:p>
        </p:txBody>
      </p:sp>
      <p:sp>
        <p:nvSpPr>
          <p:cNvPr id="4" name="Slide Number Placeholder 3">
            <a:extLst>
              <a:ext uri="{FF2B5EF4-FFF2-40B4-BE49-F238E27FC236}">
                <a16:creationId xmlns:a16="http://schemas.microsoft.com/office/drawing/2014/main" id="{43F1CBBC-6050-13DE-E992-E03D0CD670D8}"/>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9</a:t>
            </a:fld>
            <a:endParaRPr lang="en-US"/>
          </a:p>
        </p:txBody>
      </p:sp>
      <p:pic>
        <p:nvPicPr>
          <p:cNvPr id="7" name="Picture 6">
            <a:extLst>
              <a:ext uri="{FF2B5EF4-FFF2-40B4-BE49-F238E27FC236}">
                <a16:creationId xmlns:a16="http://schemas.microsoft.com/office/drawing/2014/main" id="{8C9785F5-465A-BF12-1A9A-4226FD3F84A7}"/>
              </a:ext>
            </a:extLst>
          </p:cNvPr>
          <p:cNvPicPr>
            <a:picLocks noChangeAspect="1"/>
          </p:cNvPicPr>
          <p:nvPr/>
        </p:nvPicPr>
        <p:blipFill>
          <a:blip r:embed="rId2"/>
          <a:stretch>
            <a:fillRect/>
          </a:stretch>
        </p:blipFill>
        <p:spPr>
          <a:xfrm>
            <a:off x="1200053" y="3648008"/>
            <a:ext cx="3982570" cy="2780832"/>
          </a:xfrm>
          <a:prstGeom prst="rect">
            <a:avLst/>
          </a:prstGeom>
        </p:spPr>
      </p:pic>
      <p:sp>
        <p:nvSpPr>
          <p:cNvPr id="9" name="Rectangle 8">
            <a:extLst>
              <a:ext uri="{FF2B5EF4-FFF2-40B4-BE49-F238E27FC236}">
                <a16:creationId xmlns:a16="http://schemas.microsoft.com/office/drawing/2014/main" id="{F2B39C88-0623-AD3C-A20A-99D845DE3441}"/>
              </a:ext>
            </a:extLst>
          </p:cNvPr>
          <p:cNvSpPr/>
          <p:nvPr/>
        </p:nvSpPr>
        <p:spPr>
          <a:xfrm>
            <a:off x="1141935" y="3603247"/>
            <a:ext cx="4098805" cy="154105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9229DDE6-6DA2-4B5A-07AE-ABFE361E9380}"/>
              </a:ext>
            </a:extLst>
          </p:cNvPr>
          <p:cNvCxnSpPr>
            <a:cxnSpLocks/>
          </p:cNvCxnSpPr>
          <p:nvPr/>
        </p:nvCxnSpPr>
        <p:spPr>
          <a:xfrm flipV="1">
            <a:off x="5240740" y="3467189"/>
            <a:ext cx="582482" cy="136058"/>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13" name="Straight Connector 12">
            <a:extLst>
              <a:ext uri="{FF2B5EF4-FFF2-40B4-BE49-F238E27FC236}">
                <a16:creationId xmlns:a16="http://schemas.microsoft.com/office/drawing/2014/main" id="{34C19AE4-6AFD-8519-603B-D50EA599D8BA}"/>
              </a:ext>
            </a:extLst>
          </p:cNvPr>
          <p:cNvCxnSpPr>
            <a:cxnSpLocks/>
          </p:cNvCxnSpPr>
          <p:nvPr/>
        </p:nvCxnSpPr>
        <p:spPr>
          <a:xfrm>
            <a:off x="5240740" y="5144299"/>
            <a:ext cx="582482" cy="161457"/>
          </a:xfrm>
          <a:prstGeom prst="line">
            <a:avLst/>
          </a:prstGeom>
          <a:ln/>
        </p:spPr>
        <p:style>
          <a:lnRef idx="2">
            <a:schemeClr val="accent2"/>
          </a:lnRef>
          <a:fillRef idx="0">
            <a:schemeClr val="accent2"/>
          </a:fillRef>
          <a:effectRef idx="1">
            <a:schemeClr val="accent2"/>
          </a:effectRef>
          <a:fontRef idx="minor">
            <a:schemeClr val="tx1"/>
          </a:fontRef>
        </p:style>
      </p:cxnSp>
      <p:pic>
        <p:nvPicPr>
          <p:cNvPr id="10" name="Picture 9" descr="image_000001_9a983e23f10642fa9b46635081f8ff792cec83c6cc5a26db67427824d7ee3fec.png">
            <a:extLst>
              <a:ext uri="{FF2B5EF4-FFF2-40B4-BE49-F238E27FC236}">
                <a16:creationId xmlns:a16="http://schemas.microsoft.com/office/drawing/2014/main" id="{4BE8B7B0-48DA-469F-E0E2-CDE1F91A5A66}"/>
              </a:ext>
            </a:extLst>
          </p:cNvPr>
          <p:cNvPicPr>
            <a:picLocks noChangeAspect="1"/>
          </p:cNvPicPr>
          <p:nvPr/>
        </p:nvPicPr>
        <p:blipFill>
          <a:blip r:embed="rId3"/>
          <a:stretch>
            <a:fillRect/>
          </a:stretch>
        </p:blipFill>
        <p:spPr>
          <a:xfrm>
            <a:off x="5823222" y="3467189"/>
            <a:ext cx="5208725" cy="1842110"/>
          </a:xfrm>
          <a:prstGeom prst="rect">
            <a:avLst/>
          </a:prstGeom>
        </p:spPr>
      </p:pic>
      <p:sp>
        <p:nvSpPr>
          <p:cNvPr id="12" name="Rectangle 11">
            <a:extLst>
              <a:ext uri="{FF2B5EF4-FFF2-40B4-BE49-F238E27FC236}">
                <a16:creationId xmlns:a16="http://schemas.microsoft.com/office/drawing/2014/main" id="{EED96441-A6F6-A8C9-3BF0-46752D9737D4}"/>
              </a:ext>
            </a:extLst>
          </p:cNvPr>
          <p:cNvSpPr/>
          <p:nvPr/>
        </p:nvSpPr>
        <p:spPr>
          <a:xfrm>
            <a:off x="5832281" y="3429000"/>
            <a:ext cx="5521519" cy="188954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AF9D1915-294A-D5B0-8116-1228D1BCC4FE}"/>
              </a:ext>
            </a:extLst>
          </p:cNvPr>
          <p:cNvPicPr>
            <a:picLocks noChangeAspect="1"/>
          </p:cNvPicPr>
          <p:nvPr/>
        </p:nvPicPr>
        <p:blipFill>
          <a:blip r:embed="rId4"/>
          <a:stretch>
            <a:fillRect/>
          </a:stretch>
        </p:blipFill>
        <p:spPr>
          <a:xfrm>
            <a:off x="5777937" y="2711310"/>
            <a:ext cx="5575863" cy="648868"/>
          </a:xfrm>
          <a:prstGeom prst="rect">
            <a:avLst/>
          </a:prstGeom>
        </p:spPr>
      </p:pic>
      <p:cxnSp>
        <p:nvCxnSpPr>
          <p:cNvPr id="17" name="Straight Arrow Connector 16">
            <a:extLst>
              <a:ext uri="{FF2B5EF4-FFF2-40B4-BE49-F238E27FC236}">
                <a16:creationId xmlns:a16="http://schemas.microsoft.com/office/drawing/2014/main" id="{769AF486-87B7-4DE5-595D-3BEABAAE79E8}"/>
              </a:ext>
            </a:extLst>
          </p:cNvPr>
          <p:cNvCxnSpPr>
            <a:cxnSpLocks/>
          </p:cNvCxnSpPr>
          <p:nvPr/>
        </p:nvCxnSpPr>
        <p:spPr>
          <a:xfrm>
            <a:off x="4757438" y="2475978"/>
            <a:ext cx="959161" cy="559766"/>
          </a:xfrm>
          <a:prstGeom prst="straightConnector1">
            <a:avLst/>
          </a:prstGeom>
          <a:ln>
            <a:solidFill>
              <a:srgbClr val="FF0000"/>
            </a:solidFill>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10256542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9D5B2-86C3-132B-D422-4918D66D2250}"/>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B3A91DE0-1DCC-3FB3-E677-2BCFDA94BE84}"/>
              </a:ext>
            </a:extLst>
          </p:cNvPr>
          <p:cNvPicPr>
            <a:picLocks noChangeAspect="1"/>
          </p:cNvPicPr>
          <p:nvPr/>
        </p:nvPicPr>
        <p:blipFill>
          <a:blip r:embed="rId2"/>
          <a:stretch>
            <a:fillRect/>
          </a:stretch>
        </p:blipFill>
        <p:spPr>
          <a:xfrm>
            <a:off x="713466" y="3162223"/>
            <a:ext cx="5109756" cy="3083152"/>
          </a:xfrm>
          <a:prstGeom prst="rect">
            <a:avLst/>
          </a:prstGeom>
        </p:spPr>
      </p:pic>
      <p:sp>
        <p:nvSpPr>
          <p:cNvPr id="2" name="Title 1">
            <a:extLst>
              <a:ext uri="{FF2B5EF4-FFF2-40B4-BE49-F238E27FC236}">
                <a16:creationId xmlns:a16="http://schemas.microsoft.com/office/drawing/2014/main" id="{6008C90D-92B4-3E85-9021-88AC98611E48}"/>
              </a:ext>
            </a:extLst>
          </p:cNvPr>
          <p:cNvSpPr>
            <a:spLocks noGrp="1"/>
          </p:cNvSpPr>
          <p:nvPr>
            <p:ph type="title"/>
          </p:nvPr>
        </p:nvSpPr>
        <p:spPr/>
        <p:txBody>
          <a:bodyPr/>
          <a:lstStyle/>
          <a:p>
            <a:r>
              <a:rPr lang="en-US" dirty="0"/>
              <a:t>Docling Feature extraction (formulas)</a:t>
            </a:r>
          </a:p>
        </p:txBody>
      </p:sp>
      <p:sp>
        <p:nvSpPr>
          <p:cNvPr id="3" name="Text Placeholder 2">
            <a:extLst>
              <a:ext uri="{FF2B5EF4-FFF2-40B4-BE49-F238E27FC236}">
                <a16:creationId xmlns:a16="http://schemas.microsoft.com/office/drawing/2014/main" id="{354F71B0-F412-533C-C171-6C36041DDEE7}"/>
              </a:ext>
            </a:extLst>
          </p:cNvPr>
          <p:cNvSpPr>
            <a:spLocks noGrp="1"/>
          </p:cNvSpPr>
          <p:nvPr>
            <p:ph type="body" idx="1"/>
          </p:nvPr>
        </p:nvSpPr>
        <p:spPr/>
        <p:txBody>
          <a:bodyPr>
            <a:normAutofit/>
          </a:bodyPr>
          <a:lstStyle/>
          <a:p>
            <a:r>
              <a:rPr lang="en-US" sz="1800" dirty="0"/>
              <a:t>Formula extraction</a:t>
            </a:r>
          </a:p>
          <a:p>
            <a:pPr lvl="1"/>
            <a:r>
              <a:rPr lang="en-US" sz="1200" dirty="0"/>
              <a:t>Outputs in LaTeX format.</a:t>
            </a:r>
          </a:p>
          <a:p>
            <a:pPr lvl="1"/>
            <a:endParaRPr lang="en-US" sz="1600" dirty="0"/>
          </a:p>
        </p:txBody>
      </p:sp>
      <p:sp>
        <p:nvSpPr>
          <p:cNvPr id="4" name="Slide Number Placeholder 3">
            <a:extLst>
              <a:ext uri="{FF2B5EF4-FFF2-40B4-BE49-F238E27FC236}">
                <a16:creationId xmlns:a16="http://schemas.microsoft.com/office/drawing/2014/main" id="{78B94583-F23D-9EFC-81CF-555C38DEC87F}"/>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10</a:t>
            </a:fld>
            <a:endParaRPr lang="en-US"/>
          </a:p>
        </p:txBody>
      </p:sp>
      <p:sp>
        <p:nvSpPr>
          <p:cNvPr id="9" name="Rectangle 8">
            <a:extLst>
              <a:ext uri="{FF2B5EF4-FFF2-40B4-BE49-F238E27FC236}">
                <a16:creationId xmlns:a16="http://schemas.microsoft.com/office/drawing/2014/main" id="{6F542DAC-7E96-E2EE-B644-47FDF0C9C886}"/>
              </a:ext>
            </a:extLst>
          </p:cNvPr>
          <p:cNvSpPr/>
          <p:nvPr/>
        </p:nvSpPr>
        <p:spPr>
          <a:xfrm>
            <a:off x="1061471" y="4009293"/>
            <a:ext cx="4252280" cy="76732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E3226A1E-6067-2257-0AE8-C43DE8C6A62C}"/>
              </a:ext>
            </a:extLst>
          </p:cNvPr>
          <p:cNvPicPr>
            <a:picLocks noChangeAspect="1"/>
          </p:cNvPicPr>
          <p:nvPr/>
        </p:nvPicPr>
        <p:blipFill>
          <a:blip r:embed="rId3"/>
          <a:stretch>
            <a:fillRect/>
          </a:stretch>
        </p:blipFill>
        <p:spPr>
          <a:xfrm>
            <a:off x="6368780" y="2759375"/>
            <a:ext cx="5029200" cy="1075823"/>
          </a:xfrm>
          <a:prstGeom prst="rect">
            <a:avLst/>
          </a:prstGeom>
        </p:spPr>
      </p:pic>
      <p:pic>
        <p:nvPicPr>
          <p:cNvPr id="15" name="Picture 14">
            <a:extLst>
              <a:ext uri="{FF2B5EF4-FFF2-40B4-BE49-F238E27FC236}">
                <a16:creationId xmlns:a16="http://schemas.microsoft.com/office/drawing/2014/main" id="{DF329E4E-C142-0BD3-4A73-74929A868B29}"/>
              </a:ext>
            </a:extLst>
          </p:cNvPr>
          <p:cNvPicPr>
            <a:picLocks noChangeAspect="1"/>
          </p:cNvPicPr>
          <p:nvPr/>
        </p:nvPicPr>
        <p:blipFill>
          <a:blip r:embed="rId4"/>
          <a:stretch>
            <a:fillRect/>
          </a:stretch>
        </p:blipFill>
        <p:spPr>
          <a:xfrm>
            <a:off x="6368780" y="4703799"/>
            <a:ext cx="5029200" cy="1009413"/>
          </a:xfrm>
          <a:prstGeom prst="rect">
            <a:avLst/>
          </a:prstGeom>
        </p:spPr>
      </p:pic>
      <p:cxnSp>
        <p:nvCxnSpPr>
          <p:cNvPr id="17" name="Straight Arrow Connector 16">
            <a:extLst>
              <a:ext uri="{FF2B5EF4-FFF2-40B4-BE49-F238E27FC236}">
                <a16:creationId xmlns:a16="http://schemas.microsoft.com/office/drawing/2014/main" id="{6B420738-59F6-7148-275F-A7811B822FC3}"/>
              </a:ext>
            </a:extLst>
          </p:cNvPr>
          <p:cNvCxnSpPr>
            <a:stCxn id="9" idx="3"/>
            <a:endCxn id="10" idx="1"/>
          </p:cNvCxnSpPr>
          <p:nvPr/>
        </p:nvCxnSpPr>
        <p:spPr>
          <a:xfrm flipV="1">
            <a:off x="5313751" y="3297287"/>
            <a:ext cx="1055029" cy="1095670"/>
          </a:xfrm>
          <a:prstGeom prst="straightConnector1">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Straight Arrow Connector 17">
            <a:extLst>
              <a:ext uri="{FF2B5EF4-FFF2-40B4-BE49-F238E27FC236}">
                <a16:creationId xmlns:a16="http://schemas.microsoft.com/office/drawing/2014/main" id="{12C26743-B3C2-D329-9257-FBCBC84BD7BF}"/>
              </a:ext>
            </a:extLst>
          </p:cNvPr>
          <p:cNvCxnSpPr>
            <a:cxnSpLocks/>
            <a:stCxn id="10" idx="2"/>
            <a:endCxn id="15" idx="0"/>
          </p:cNvCxnSpPr>
          <p:nvPr/>
        </p:nvCxnSpPr>
        <p:spPr>
          <a:xfrm>
            <a:off x="8883380" y="3835198"/>
            <a:ext cx="0" cy="868601"/>
          </a:xfrm>
          <a:prstGeom prst="straightConnector1">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 name="TextBox 21">
            <a:extLst>
              <a:ext uri="{FF2B5EF4-FFF2-40B4-BE49-F238E27FC236}">
                <a16:creationId xmlns:a16="http://schemas.microsoft.com/office/drawing/2014/main" id="{25FE1CED-057E-3304-B07E-DC3D43489453}"/>
              </a:ext>
            </a:extLst>
          </p:cNvPr>
          <p:cNvSpPr txBox="1"/>
          <p:nvPr/>
        </p:nvSpPr>
        <p:spPr>
          <a:xfrm>
            <a:off x="6368780" y="6106725"/>
            <a:ext cx="5643939" cy="553998"/>
          </a:xfrm>
          <a:prstGeom prst="rect">
            <a:avLst/>
          </a:prstGeom>
          <a:noFill/>
        </p:spPr>
        <p:txBody>
          <a:bodyPr wrap="square" rtlCol="0">
            <a:spAutoFit/>
          </a:bodyPr>
          <a:lstStyle/>
          <a:p>
            <a:r>
              <a:rPr lang="en-US" sz="1000" dirty="0"/>
              <a:t>Gao, Bingying, et al. “Dynamics of a Fishery Management Model with Predation-Induced Fear Effect, Impulsive Nonlinear Harvesting Prey and Predator Seasonally Migrating Between Two Patches.” </a:t>
            </a:r>
            <a:r>
              <a:rPr lang="en-US" sz="1000" i="1" dirty="0"/>
              <a:t>Axioms</a:t>
            </a:r>
            <a:r>
              <a:rPr lang="en-US" sz="1000" dirty="0"/>
              <a:t>, vol. 15, no. 1, 2026, article 32, </a:t>
            </a:r>
            <a:r>
              <a:rPr lang="en-US" sz="1000" dirty="0">
                <a:hlinkClick r:id="rId5"/>
              </a:rPr>
              <a:t>https://doi.org/10.3390/axioms15010032</a:t>
            </a:r>
            <a:endParaRPr lang="en-US" sz="1000" dirty="0"/>
          </a:p>
        </p:txBody>
      </p:sp>
    </p:spTree>
    <p:extLst>
      <p:ext uri="{BB962C8B-B14F-4D97-AF65-F5344CB8AC3E}">
        <p14:creationId xmlns:p14="http://schemas.microsoft.com/office/powerpoint/2010/main" val="24653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B9FD4-0D7C-9DEF-ABBA-477894E71415}"/>
              </a:ext>
            </a:extLst>
          </p:cNvPr>
          <p:cNvSpPr>
            <a:spLocks noGrp="1"/>
          </p:cNvSpPr>
          <p:nvPr>
            <p:ph type="title"/>
          </p:nvPr>
        </p:nvSpPr>
        <p:spPr/>
        <p:txBody>
          <a:bodyPr/>
          <a:lstStyle/>
          <a:p>
            <a:r>
              <a:rPr lang="en-US" dirty="0"/>
              <a:t>Parsing Marker</a:t>
            </a:r>
          </a:p>
        </p:txBody>
      </p:sp>
      <p:sp>
        <p:nvSpPr>
          <p:cNvPr id="3" name="Text Placeholder 2">
            <a:extLst>
              <a:ext uri="{FF2B5EF4-FFF2-40B4-BE49-F238E27FC236}">
                <a16:creationId xmlns:a16="http://schemas.microsoft.com/office/drawing/2014/main" id="{8118AFE1-A364-B13F-D116-80EC56E217F0}"/>
              </a:ext>
            </a:extLst>
          </p:cNvPr>
          <p:cNvSpPr>
            <a:spLocks noGrp="1"/>
          </p:cNvSpPr>
          <p:nvPr>
            <p:ph type="body" idx="1"/>
          </p:nvPr>
        </p:nvSpPr>
        <p:spPr/>
        <p:txBody>
          <a:bodyPr>
            <a:normAutofit/>
          </a:bodyPr>
          <a:lstStyle/>
          <a:p>
            <a:r>
              <a:rPr lang="en-US" sz="2000" dirty="0"/>
              <a:t>Largely same capabilities as Docling</a:t>
            </a:r>
          </a:p>
          <a:p>
            <a:pPr lvl="1"/>
            <a:r>
              <a:rPr lang="en-US" sz="1800" dirty="0"/>
              <a:t>More expensive, but better accuracy.</a:t>
            </a:r>
          </a:p>
          <a:p>
            <a:r>
              <a:rPr lang="en-US" sz="2200" dirty="0"/>
              <a:t>Example document: A Digital Twin Based Forecasting Framework for Power Flow Management in DC Microgrids</a:t>
            </a:r>
          </a:p>
          <a:p>
            <a:endParaRPr lang="en-US" sz="2200" dirty="0"/>
          </a:p>
        </p:txBody>
      </p:sp>
      <p:sp>
        <p:nvSpPr>
          <p:cNvPr id="4" name="Slide Number Placeholder 3">
            <a:extLst>
              <a:ext uri="{FF2B5EF4-FFF2-40B4-BE49-F238E27FC236}">
                <a16:creationId xmlns:a16="http://schemas.microsoft.com/office/drawing/2014/main" id="{534BE55E-A646-AAF1-A227-21F58A723FFC}"/>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11</a:t>
            </a:fld>
            <a:endParaRPr lang="en-US"/>
          </a:p>
        </p:txBody>
      </p:sp>
      <p:pic>
        <p:nvPicPr>
          <p:cNvPr id="6" name="Picture 5">
            <a:extLst>
              <a:ext uri="{FF2B5EF4-FFF2-40B4-BE49-F238E27FC236}">
                <a16:creationId xmlns:a16="http://schemas.microsoft.com/office/drawing/2014/main" id="{3EC8BB45-4F96-3140-9A64-057FFC1E2AF5}"/>
              </a:ext>
            </a:extLst>
          </p:cNvPr>
          <p:cNvPicPr>
            <a:picLocks noChangeAspect="1"/>
          </p:cNvPicPr>
          <p:nvPr/>
        </p:nvPicPr>
        <p:blipFill>
          <a:blip r:embed="rId2"/>
          <a:stretch>
            <a:fillRect/>
          </a:stretch>
        </p:blipFill>
        <p:spPr>
          <a:xfrm>
            <a:off x="7380931" y="810365"/>
            <a:ext cx="4006516" cy="519395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
        <p:nvSpPr>
          <p:cNvPr id="8" name="TextBox 7">
            <a:extLst>
              <a:ext uri="{FF2B5EF4-FFF2-40B4-BE49-F238E27FC236}">
                <a16:creationId xmlns:a16="http://schemas.microsoft.com/office/drawing/2014/main" id="{7A7FC2BB-13E8-426A-A286-098645C61740}"/>
              </a:ext>
            </a:extLst>
          </p:cNvPr>
          <p:cNvSpPr txBox="1"/>
          <p:nvPr/>
        </p:nvSpPr>
        <p:spPr>
          <a:xfrm>
            <a:off x="1287596" y="6004322"/>
            <a:ext cx="5643939" cy="369332"/>
          </a:xfrm>
          <a:prstGeom prst="rect">
            <a:avLst/>
          </a:prstGeom>
          <a:noFill/>
        </p:spPr>
        <p:txBody>
          <a:bodyPr wrap="square" rtlCol="0">
            <a:spAutoFit/>
          </a:bodyPr>
          <a:lstStyle/>
          <a:p>
            <a:r>
              <a:rPr lang="en-US" sz="900" dirty="0"/>
              <a:t>Sado, Kerry, et al. “A Digital Twin Based Forecasting Framework for Power Flow Management in DC Microgrids.” </a:t>
            </a:r>
            <a:r>
              <a:rPr lang="en-US" sz="900" i="1" dirty="0"/>
              <a:t>Scientific Reports</a:t>
            </a:r>
            <a:r>
              <a:rPr lang="en-US" sz="900" dirty="0"/>
              <a:t>, vol. 15, 2025, article 6430, </a:t>
            </a:r>
            <a:r>
              <a:rPr lang="en-US" sz="900" dirty="0">
                <a:hlinkClick r:id="rId3"/>
              </a:rPr>
              <a:t>https://doi.org/10.1038/s41598-025-91074-0</a:t>
            </a:r>
            <a:r>
              <a:rPr lang="en-US" sz="900" dirty="0"/>
              <a:t>.</a:t>
            </a:r>
            <a:endParaRPr lang="en-US" sz="600" dirty="0"/>
          </a:p>
        </p:txBody>
      </p:sp>
    </p:spTree>
    <p:extLst>
      <p:ext uri="{BB962C8B-B14F-4D97-AF65-F5344CB8AC3E}">
        <p14:creationId xmlns:p14="http://schemas.microsoft.com/office/powerpoint/2010/main" val="26784818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1D2CE-3134-4D3B-38C1-1AF13677C271}"/>
              </a:ext>
            </a:extLst>
          </p:cNvPr>
          <p:cNvSpPr>
            <a:spLocks noGrp="1"/>
          </p:cNvSpPr>
          <p:nvPr>
            <p:ph type="title"/>
          </p:nvPr>
        </p:nvSpPr>
        <p:spPr/>
        <p:txBody>
          <a:bodyPr>
            <a:normAutofit/>
          </a:bodyPr>
          <a:lstStyle/>
          <a:p>
            <a:r>
              <a:rPr lang="en-US" sz="2800" dirty="0"/>
              <a:t>Marker Feature Extraction (in text citations)</a:t>
            </a:r>
          </a:p>
        </p:txBody>
      </p:sp>
      <p:sp>
        <p:nvSpPr>
          <p:cNvPr id="3" name="Text Placeholder 2">
            <a:extLst>
              <a:ext uri="{FF2B5EF4-FFF2-40B4-BE49-F238E27FC236}">
                <a16:creationId xmlns:a16="http://schemas.microsoft.com/office/drawing/2014/main" id="{D25E97AB-BE99-BFA5-62C7-FF7D363FD5FD}"/>
              </a:ext>
            </a:extLst>
          </p:cNvPr>
          <p:cNvSpPr>
            <a:spLocks noGrp="1"/>
          </p:cNvSpPr>
          <p:nvPr>
            <p:ph type="body" idx="1"/>
          </p:nvPr>
        </p:nvSpPr>
        <p:spPr>
          <a:xfrm>
            <a:off x="838199" y="1825625"/>
            <a:ext cx="10006263" cy="1325563"/>
          </a:xfrm>
        </p:spPr>
        <p:txBody>
          <a:bodyPr>
            <a:normAutofit/>
          </a:bodyPr>
          <a:lstStyle/>
          <a:p>
            <a:r>
              <a:rPr lang="en-US" sz="2000" dirty="0"/>
              <a:t>Linking in-text citations to the references section</a:t>
            </a:r>
          </a:p>
          <a:p>
            <a:pPr lvl="1"/>
            <a:r>
              <a:rPr lang="en-US" sz="1600" dirty="0"/>
              <a:t>Largely dependent on the document itself. (garbage in, garbage out)</a:t>
            </a:r>
          </a:p>
        </p:txBody>
      </p:sp>
      <p:sp>
        <p:nvSpPr>
          <p:cNvPr id="4" name="Slide Number Placeholder 3">
            <a:extLst>
              <a:ext uri="{FF2B5EF4-FFF2-40B4-BE49-F238E27FC236}">
                <a16:creationId xmlns:a16="http://schemas.microsoft.com/office/drawing/2014/main" id="{CE24D400-D1A4-25D2-6767-4A028E6BEC06}"/>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12</a:t>
            </a:fld>
            <a:endParaRPr lang="en-US"/>
          </a:p>
        </p:txBody>
      </p:sp>
      <p:pic>
        <p:nvPicPr>
          <p:cNvPr id="6" name="Picture 5">
            <a:extLst>
              <a:ext uri="{FF2B5EF4-FFF2-40B4-BE49-F238E27FC236}">
                <a16:creationId xmlns:a16="http://schemas.microsoft.com/office/drawing/2014/main" id="{050830D5-49AD-2703-F36F-ADE972F9FA2B}"/>
              </a:ext>
            </a:extLst>
          </p:cNvPr>
          <p:cNvPicPr>
            <a:picLocks noChangeAspect="1"/>
          </p:cNvPicPr>
          <p:nvPr/>
        </p:nvPicPr>
        <p:blipFill>
          <a:blip r:embed="rId2"/>
          <a:stretch>
            <a:fillRect/>
          </a:stretch>
        </p:blipFill>
        <p:spPr>
          <a:xfrm>
            <a:off x="838199" y="3059711"/>
            <a:ext cx="5456839" cy="2743200"/>
          </a:xfrm>
          <a:prstGeom prst="rect">
            <a:avLst/>
          </a:prstGeom>
        </p:spPr>
      </p:pic>
      <p:pic>
        <p:nvPicPr>
          <p:cNvPr id="8" name="Picture 7">
            <a:extLst>
              <a:ext uri="{FF2B5EF4-FFF2-40B4-BE49-F238E27FC236}">
                <a16:creationId xmlns:a16="http://schemas.microsoft.com/office/drawing/2014/main" id="{2A9C76D8-2DCD-DFFB-C7C3-551B09E60ED8}"/>
              </a:ext>
            </a:extLst>
          </p:cNvPr>
          <p:cNvPicPr>
            <a:picLocks noChangeAspect="1"/>
          </p:cNvPicPr>
          <p:nvPr/>
        </p:nvPicPr>
        <p:blipFill>
          <a:blip r:embed="rId3"/>
          <a:stretch>
            <a:fillRect/>
          </a:stretch>
        </p:blipFill>
        <p:spPr>
          <a:xfrm>
            <a:off x="6489676" y="3059711"/>
            <a:ext cx="4864124" cy="2743200"/>
          </a:xfrm>
          <a:prstGeom prst="rect">
            <a:avLst/>
          </a:prstGeom>
        </p:spPr>
      </p:pic>
    </p:spTree>
    <p:extLst>
      <p:ext uri="{BB962C8B-B14F-4D97-AF65-F5344CB8AC3E}">
        <p14:creationId xmlns:p14="http://schemas.microsoft.com/office/powerpoint/2010/main" val="23015924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prstGeom prst="rect">
            <a:avLst/>
          </a:prstGeom>
          <a:noFill/>
          <a:ln/>
        </p:spPr>
        <p:txBody>
          <a:bodyPr wrap="square" lIns="0" tIns="0" rIns="0" bIns="0" rtlCol="0" anchor="ctr"/>
          <a:lstStyle/>
          <a:p>
            <a:pPr marL="0" indent="0" algn="l">
              <a:buNone/>
            </a:pPr>
            <a:r>
              <a:rPr lang="en-US" sz="3600" dirty="0">
                <a:solidFill>
                  <a:schemeClr val="tx1"/>
                </a:solidFill>
                <a:latin typeface="Arial Black" pitchFamily="34" charset="0"/>
                <a:ea typeface="Arial Black" pitchFamily="34" charset="-122"/>
                <a:cs typeface="Arial Black" pitchFamily="34" charset="-120"/>
              </a:rPr>
              <a:t>What Our Database Stores</a:t>
            </a:r>
            <a:endParaRPr lang="en-US" sz="3600" dirty="0"/>
          </a:p>
        </p:txBody>
      </p:sp>
      <p:sp>
        <p:nvSpPr>
          <p:cNvPr id="3" name="Text 2"/>
          <p:cNvSpPr>
            <a:spLocks noGrp="1"/>
          </p:cNvSpPr>
          <p:nvPr>
            <p:ph type="body" idx="1"/>
          </p:nvPr>
        </p:nvSpPr>
        <p:spPr>
          <a:prstGeom prst="rect">
            <a:avLst/>
          </a:prstGeom>
          <a:noFill/>
          <a:ln/>
        </p:spPr>
        <p:txBody>
          <a:bodyPr wrap="square" rtlCol="0" anchor="t"/>
          <a:lstStyle/>
          <a:p>
            <a:pPr marL="342900" indent="-342900">
              <a:spcAft>
                <a:spcPts val="800"/>
              </a:spcAft>
              <a:buSzPct val="100000"/>
              <a:buChar char="•"/>
            </a:pPr>
            <a:r>
              <a:rPr lang="en-US" sz="2200" dirty="0">
                <a:latin typeface="Arial" pitchFamily="34" charset="0"/>
                <a:ea typeface="Arial" pitchFamily="34" charset="-122"/>
                <a:cs typeface="Arial" pitchFamily="34" charset="-120"/>
              </a:rPr>
              <a:t>A normal database stores documents</a:t>
            </a:r>
            <a:endParaRPr lang="en-US" sz="2200" dirty="0"/>
          </a:p>
          <a:p>
            <a:pPr marL="342900" indent="-342900">
              <a:spcBef>
                <a:spcPts val="600"/>
              </a:spcBef>
              <a:spcAft>
                <a:spcPts val="800"/>
              </a:spcAft>
              <a:buSzPct val="100000"/>
              <a:buChar char="•"/>
            </a:pPr>
            <a:r>
              <a:rPr lang="en-US" sz="2200" dirty="0">
                <a:latin typeface="Arial" pitchFamily="34" charset="0"/>
                <a:ea typeface="Arial" pitchFamily="34" charset="-122"/>
                <a:cs typeface="Arial" pitchFamily="34" charset="-120"/>
              </a:rPr>
              <a:t>Ours stores documents and vectors</a:t>
            </a:r>
            <a:endParaRPr lang="en-US" sz="2200" dirty="0"/>
          </a:p>
          <a:p>
            <a:pPr marL="342900" indent="-342900">
              <a:spcBef>
                <a:spcPts val="600"/>
              </a:spcBef>
              <a:spcAft>
                <a:spcPts val="800"/>
              </a:spcAft>
              <a:buSzPct val="100000"/>
              <a:buChar char="•"/>
            </a:pPr>
            <a:r>
              <a:rPr lang="en-US" sz="2200" dirty="0">
                <a:latin typeface="Arial" pitchFamily="34" charset="0"/>
                <a:ea typeface="Arial" pitchFamily="34" charset="-122"/>
                <a:cs typeface="Arial" pitchFamily="34" charset="-120"/>
              </a:rPr>
              <a:t>The machines read the vectors</a:t>
            </a:r>
            <a:endParaRPr lang="en-US" sz="2200" dirty="0"/>
          </a:p>
          <a:p>
            <a:pPr marL="685800" lvl="1" indent="-342900">
              <a:spcAft>
                <a:spcPts val="400"/>
              </a:spcAft>
              <a:buSzPct val="100000"/>
              <a:buChar char="•"/>
            </a:pPr>
            <a:r>
              <a:rPr lang="en-US" sz="1800" dirty="0">
                <a:latin typeface="Arial" pitchFamily="34" charset="0"/>
                <a:ea typeface="Arial" pitchFamily="34" charset="-122"/>
                <a:cs typeface="Arial" pitchFamily="34" charset="-120"/>
              </a:rPr>
              <a:t>Vectors find the relevant passage</a:t>
            </a:r>
            <a:endParaRPr lang="en-US" sz="2200" dirty="0"/>
          </a:p>
          <a:p>
            <a:pPr marL="342900" indent="-342900">
              <a:spcBef>
                <a:spcPts val="600"/>
              </a:spcBef>
              <a:spcAft>
                <a:spcPts val="800"/>
              </a:spcAft>
              <a:buSzPct val="100000"/>
              <a:buChar char="•"/>
            </a:pPr>
            <a:r>
              <a:rPr lang="en-US" sz="2200" dirty="0">
                <a:latin typeface="Arial" pitchFamily="34" charset="0"/>
                <a:ea typeface="Arial" pitchFamily="34" charset="-122"/>
                <a:cs typeface="Arial" pitchFamily="34" charset="-120"/>
              </a:rPr>
              <a:t>We read the documents</a:t>
            </a:r>
            <a:endParaRPr lang="en-US" sz="2200" dirty="0"/>
          </a:p>
          <a:p>
            <a:pPr marL="685800" lvl="1" indent="-342900">
              <a:spcAft>
                <a:spcPts val="400"/>
              </a:spcAft>
              <a:buSzPct val="100000"/>
              <a:buChar char="•"/>
            </a:pPr>
            <a:r>
              <a:rPr lang="en-US" sz="1800" dirty="0">
                <a:latin typeface="Arial" pitchFamily="34" charset="0"/>
                <a:ea typeface="Arial" pitchFamily="34" charset="-122"/>
                <a:cs typeface="Arial" pitchFamily="34" charset="-120"/>
              </a:rPr>
              <a:t>Original text, source, and page are stored verbatim</a:t>
            </a:r>
            <a:endParaRPr lang="en-US" sz="2200" dirty="0"/>
          </a:p>
        </p:txBody>
      </p:sp>
      <p:sp>
        <p:nvSpPr>
          <p:cNvPr id="25" name="Slide Number Placeholder 0"/>
          <p:cNvSpPr>
            <a:spLocks noGrp="1"/>
          </p:cNvSpPr>
          <p:nvPr>
            <p:ph type="sldNum" idx="12"/>
          </p:nvPr>
        </p:nvSpPr>
        <p:spPr>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4"/>
                </a:solidFill>
                <a:latin typeface="Arial"/>
                <a:ea typeface="Arial"/>
                <a:cs typeface="Aria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srgbClr val="8C8C8C"/>
                </a:solidFill>
                <a:effectLst/>
                <a:uLnTx/>
                <a:uFillTx/>
                <a:latin typeface="Arial"/>
                <a:cs typeface="Arial"/>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srgbClr val="8C8C8C"/>
              </a:solidFill>
              <a:effectLst/>
              <a:uLnTx/>
              <a:uFillTx/>
              <a:latin typeface="Arial"/>
              <a:cs typeface="Arial"/>
            </a:endParaRPr>
          </a:p>
        </p:txBody>
      </p:sp>
      <p:graphicFrame>
        <p:nvGraphicFramePr>
          <p:cNvPr id="14" name="Database records"/>
          <p:cNvGraphicFramePr>
            <a:graphicFrameLocks noGrp="1"/>
          </p:cNvGraphicFramePr>
          <p:nvPr>
            <p:extLst>
              <p:ext uri="{D42A27DB-BD31-4B8C-83A1-F6EECF244321}">
                <p14:modId xmlns:p14="http://schemas.microsoft.com/office/powerpoint/2010/main" val="1688297578"/>
              </p:ext>
            </p:extLst>
          </p:nvPr>
        </p:nvGraphicFramePr>
        <p:xfrm>
          <a:off x="6583680" y="1645920"/>
          <a:ext cx="4937760" cy="3172968"/>
        </p:xfrm>
        <a:graphic>
          <a:graphicData uri="http://schemas.openxmlformats.org/drawingml/2006/table">
            <a:tbl>
              <a:tblPr/>
              <a:tblGrid>
                <a:gridCol w="123444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566928">
                <a:tc>
                  <a:txBody>
                    <a:bodyPr/>
                    <a:lstStyle/>
                    <a:p>
                      <a:pPr marL="0" indent="0" algn="ctr">
                        <a:buNone/>
                      </a:pPr>
                      <a:r>
                        <a:rPr lang="en-US" sz="1200" b="1" dirty="0">
                          <a:solidFill>
                            <a:schemeClr val="tx1"/>
                          </a:solidFill>
                          <a:latin typeface="Arial" pitchFamily="34" charset="0"/>
                          <a:ea typeface="Arial" pitchFamily="34" charset="-122"/>
                          <a:cs typeface="Arial" pitchFamily="34" charset="-120"/>
                        </a:rPr>
                        <a:t>Vector</a:t>
                      </a:r>
                      <a:endParaRPr lang="en-US" sz="1200" dirty="0">
                        <a:solidFill>
                          <a:schemeClr val="tx1"/>
                        </a:solidFill>
                        <a:latin typeface="Arial" charset="0"/>
                        <a:ea typeface="Arial" charset="0"/>
                        <a:cs typeface="Arial" charset="0"/>
                      </a:endParaRPr>
                    </a:p>
                    <a:p>
                      <a:pPr marL="0" indent="0" algn="ctr">
                        <a:buNone/>
                      </a:pPr>
                      <a:r>
                        <a:rPr lang="en-US" sz="1100" dirty="0">
                          <a:solidFill>
                            <a:schemeClr val="tx1"/>
                          </a:solidFill>
                          <a:latin typeface="Arial" pitchFamily="34" charset="0"/>
                          <a:ea typeface="Arial" pitchFamily="34" charset="-122"/>
                          <a:cs typeface="Arial" pitchFamily="34" charset="-120"/>
                        </a:rPr>
                        <a:t>machines read</a:t>
                      </a:r>
                      <a:endParaRPr lang="en-US" sz="1200" dirty="0">
                        <a:solidFill>
                          <a:schemeClr val="tx1"/>
                        </a:solidFill>
                        <a:latin typeface="Arial" charset="0"/>
                        <a:ea typeface="Arial" charset="0"/>
                        <a:cs typeface="Arial" charset="0"/>
                      </a:endParaRPr>
                    </a:p>
                  </a:txBody>
                  <a:tcPr marL="73152" marR="73152"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tx1"/>
                          </a:solidFill>
                          <a:latin typeface="Arial" pitchFamily="34" charset="0"/>
                          <a:ea typeface="Arial" pitchFamily="34" charset="-122"/>
                          <a:cs typeface="Arial" pitchFamily="34" charset="-120"/>
                        </a:rPr>
                        <a:t>Text chunk</a:t>
                      </a:r>
                      <a:endParaRPr lang="en-US" sz="1200" dirty="0">
                        <a:solidFill>
                          <a:schemeClr val="tx1"/>
                        </a:solidFill>
                        <a:latin typeface="Arial" charset="0"/>
                        <a:ea typeface="Arial" charset="0"/>
                        <a:cs typeface="Arial" charset="0"/>
                      </a:endParaRPr>
                    </a:p>
                    <a:p>
                      <a:pPr marL="0" indent="0" algn="ctr">
                        <a:buNone/>
                      </a:pPr>
                      <a:r>
                        <a:rPr lang="en-US" sz="1100" dirty="0">
                          <a:solidFill>
                            <a:schemeClr val="tx1"/>
                          </a:solidFill>
                          <a:latin typeface="Arial" pitchFamily="34" charset="0"/>
                          <a:ea typeface="Arial" pitchFamily="34" charset="-122"/>
                          <a:cs typeface="Arial" pitchFamily="34" charset="-120"/>
                        </a:rPr>
                        <a:t>we read</a:t>
                      </a:r>
                      <a:endParaRPr lang="en-US" sz="1200" dirty="0">
                        <a:solidFill>
                          <a:schemeClr val="tx1"/>
                        </a:solidFill>
                        <a:latin typeface="Arial" charset="0"/>
                        <a:ea typeface="Arial" charset="0"/>
                        <a:cs typeface="Arial" charset="0"/>
                      </a:endParaRPr>
                    </a:p>
                  </a:txBody>
                  <a:tcPr marL="73152" marR="73152"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tx1"/>
                          </a:solidFill>
                          <a:latin typeface="Arial" pitchFamily="34" charset="0"/>
                          <a:ea typeface="Arial" pitchFamily="34" charset="-122"/>
                          <a:cs typeface="Arial" pitchFamily="34" charset="-120"/>
                        </a:rPr>
                        <a:t>Source</a:t>
                      </a:r>
                      <a:endParaRPr lang="en-US" sz="1200" dirty="0">
                        <a:solidFill>
                          <a:schemeClr val="tx1"/>
                        </a:solidFill>
                        <a:latin typeface="Arial" charset="0"/>
                        <a:ea typeface="Arial" charset="0"/>
                        <a:cs typeface="Arial" charset="0"/>
                      </a:endParaRPr>
                    </a:p>
                    <a:p>
                      <a:pPr marL="0" indent="0" algn="ctr">
                        <a:buNone/>
                      </a:pPr>
                      <a:r>
                        <a:rPr lang="en-US" sz="1100" dirty="0">
                          <a:solidFill>
                            <a:schemeClr val="tx1"/>
                          </a:solidFill>
                          <a:latin typeface="Arial" pitchFamily="34" charset="0"/>
                          <a:ea typeface="Arial" pitchFamily="34" charset="-122"/>
                          <a:cs typeface="Arial" pitchFamily="34" charset="-120"/>
                        </a:rPr>
                        <a:t>we read</a:t>
                      </a:r>
                      <a:endParaRPr lang="en-US" sz="1200" dirty="0">
                        <a:solidFill>
                          <a:schemeClr val="tx1"/>
                        </a:solidFill>
                        <a:latin typeface="Arial" charset="0"/>
                        <a:ea typeface="Arial" charset="0"/>
                        <a:cs typeface="Arial" charset="0"/>
                      </a:endParaRPr>
                    </a:p>
                  </a:txBody>
                  <a:tcPr marL="73152" marR="73152"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868680">
                <a:tc>
                  <a:txBody>
                    <a:bodyPr/>
                    <a:lstStyle/>
                    <a:p>
                      <a:pPr marL="0" indent="0">
                        <a:buNone/>
                      </a:pPr>
                      <a:r>
                        <a:rPr lang="en-US" sz="1100" dirty="0">
                          <a:solidFill>
                            <a:schemeClr val="tx1"/>
                          </a:solidFill>
                          <a:latin typeface="Courier New" pitchFamily="34" charset="0"/>
                          <a:ea typeface="Courier New" pitchFamily="34" charset="-122"/>
                          <a:cs typeface="Courier New" pitchFamily="34" charset="-120"/>
                        </a:rPr>
                        <a:t>[0.12, −0.83, 0.45, …]</a:t>
                      </a:r>
                      <a:endParaRPr lang="en-US" sz="1100" dirty="0">
                        <a:solidFill>
                          <a:schemeClr val="tx1"/>
                        </a:solidFill>
                        <a:latin typeface="Courier New" charset="0"/>
                        <a:ea typeface="Courier New" charset="0"/>
                        <a:cs typeface="Courier New" charset="0"/>
                      </a:endParaRPr>
                    </a:p>
                  </a:txBody>
                  <a:tcPr marL="73152" marR="73152"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chemeClr val="tx1"/>
                          </a:solidFill>
                          <a:latin typeface="Arial" pitchFamily="34" charset="0"/>
                          <a:ea typeface="Arial" pitchFamily="34" charset="-122"/>
                          <a:cs typeface="Arial" pitchFamily="34" charset="-120"/>
                        </a:rPr>
                        <a:t>“A Digital Twin (DT) is a comprehensive digital replica of a physical asset…”</a:t>
                      </a:r>
                      <a:endParaRPr lang="en-US" sz="1200" dirty="0">
                        <a:latin typeface="Arial" charset="0"/>
                        <a:ea typeface="Arial" charset="0"/>
                        <a:cs typeface="Arial" charset="0"/>
                      </a:endParaRPr>
                    </a:p>
                  </a:txBody>
                  <a:tcPr marL="73152" marR="73152"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chemeClr val="tx1"/>
                          </a:solidFill>
                          <a:latin typeface="Arial" pitchFamily="34" charset="0"/>
                          <a:ea typeface="Arial" pitchFamily="34" charset="-122"/>
                          <a:cs typeface="Arial" pitchFamily="34" charset="-120"/>
                        </a:rPr>
                        <a:t>Sado et al. 2025, p. 1</a:t>
                      </a:r>
                      <a:endParaRPr lang="en-US" sz="1200" dirty="0">
                        <a:latin typeface="Arial" charset="0"/>
                        <a:ea typeface="Arial" charset="0"/>
                        <a:cs typeface="Arial" charset="0"/>
                      </a:endParaRPr>
                    </a:p>
                  </a:txBody>
                  <a:tcPr marL="73152" marR="73152"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868680">
                <a:tc>
                  <a:txBody>
                    <a:bodyPr/>
                    <a:lstStyle/>
                    <a:p>
                      <a:pPr marL="0" indent="0">
                        <a:buNone/>
                      </a:pPr>
                      <a:r>
                        <a:rPr lang="en-US" sz="1100" dirty="0">
                          <a:solidFill>
                            <a:schemeClr val="tx1"/>
                          </a:solidFill>
                          <a:latin typeface="Courier New" pitchFamily="34" charset="0"/>
                          <a:ea typeface="Courier New" pitchFamily="34" charset="-122"/>
                          <a:cs typeface="Courier New" pitchFamily="34" charset="-120"/>
                        </a:rPr>
                        <a:t>[−0.31, 0.08, 0.92, …]</a:t>
                      </a:r>
                      <a:endParaRPr lang="en-US" sz="1100" dirty="0">
                        <a:solidFill>
                          <a:schemeClr val="tx1"/>
                        </a:solidFill>
                        <a:latin typeface="Courier New" charset="0"/>
                        <a:ea typeface="Courier New" charset="0"/>
                        <a:cs typeface="Courier New" charset="0"/>
                      </a:endParaRPr>
                    </a:p>
                  </a:txBody>
                  <a:tcPr marL="73152" marR="73152"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chemeClr val="tx1"/>
                          </a:solidFill>
                          <a:latin typeface="Arial" pitchFamily="34" charset="0"/>
                          <a:ea typeface="Arial" pitchFamily="34" charset="-122"/>
                          <a:cs typeface="Arial" pitchFamily="34" charset="-120"/>
                        </a:rPr>
                        <a:t>“Docling … runs efficiently on commodity hardware in a small resource budget.”</a:t>
                      </a:r>
                      <a:endParaRPr lang="en-US" sz="1200" dirty="0">
                        <a:latin typeface="Arial" charset="0"/>
                        <a:ea typeface="Arial" charset="0"/>
                        <a:cs typeface="Arial" charset="0"/>
                      </a:endParaRPr>
                    </a:p>
                  </a:txBody>
                  <a:tcPr marL="73152" marR="73152"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chemeClr val="tx1"/>
                          </a:solidFill>
                          <a:latin typeface="Arial" pitchFamily="34" charset="0"/>
                          <a:ea typeface="Arial" pitchFamily="34" charset="-122"/>
                          <a:cs typeface="Arial" pitchFamily="34" charset="-120"/>
                        </a:rPr>
                        <a:t>Auer et al. 2024, p. 1</a:t>
                      </a:r>
                      <a:endParaRPr lang="en-US" sz="1200" dirty="0">
                        <a:latin typeface="Arial" charset="0"/>
                        <a:ea typeface="Arial" charset="0"/>
                        <a:cs typeface="Arial" charset="0"/>
                      </a:endParaRPr>
                    </a:p>
                  </a:txBody>
                  <a:tcPr marL="73152" marR="73152"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868680">
                <a:tc>
                  <a:txBody>
                    <a:bodyPr/>
                    <a:lstStyle/>
                    <a:p>
                      <a:pPr marL="0" indent="0">
                        <a:buNone/>
                      </a:pPr>
                      <a:r>
                        <a:rPr lang="en-US" sz="1100" dirty="0">
                          <a:solidFill>
                            <a:schemeClr val="tx1"/>
                          </a:solidFill>
                          <a:latin typeface="Courier New" pitchFamily="34" charset="0"/>
                          <a:ea typeface="Courier New" pitchFamily="34" charset="-122"/>
                          <a:cs typeface="Courier New" pitchFamily="34" charset="-120"/>
                        </a:rPr>
                        <a:t>[0.55, 0.17, −0.40, …]</a:t>
                      </a:r>
                      <a:endParaRPr lang="en-US" sz="1100" dirty="0">
                        <a:solidFill>
                          <a:schemeClr val="tx1"/>
                        </a:solidFill>
                        <a:latin typeface="Courier New" charset="0"/>
                        <a:ea typeface="Courier New" charset="0"/>
                        <a:cs typeface="Courier New" charset="0"/>
                      </a:endParaRPr>
                    </a:p>
                  </a:txBody>
                  <a:tcPr marL="73152" marR="73152"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chemeClr val="tx1"/>
                          </a:solidFill>
                          <a:latin typeface="Arial" pitchFamily="34" charset="0"/>
                          <a:ea typeface="Arial" pitchFamily="34" charset="-122"/>
                          <a:cs typeface="Arial" pitchFamily="34" charset="-120"/>
                        </a:rPr>
                        <a:t>“The periodic solution … is globally asymptotically stable from Lemma 4.”</a:t>
                      </a:r>
                      <a:endParaRPr lang="en-US" sz="1200" dirty="0">
                        <a:latin typeface="Arial" charset="0"/>
                        <a:ea typeface="Arial" charset="0"/>
                        <a:cs typeface="Arial" charset="0"/>
                      </a:endParaRPr>
                    </a:p>
                  </a:txBody>
                  <a:tcPr marL="73152" marR="73152"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200" dirty="0">
                          <a:solidFill>
                            <a:schemeClr val="tx1"/>
                          </a:solidFill>
                          <a:latin typeface="Arial" pitchFamily="34" charset="0"/>
                          <a:ea typeface="Arial" pitchFamily="34" charset="-122"/>
                          <a:cs typeface="Arial" pitchFamily="34" charset="-120"/>
                        </a:rPr>
                        <a:t>Gao et al. 2026, near Eq. (7)</a:t>
                      </a:r>
                      <a:endParaRPr lang="en-US" sz="1200" dirty="0">
                        <a:latin typeface="Arial" charset="0"/>
                        <a:ea typeface="Arial" charset="0"/>
                        <a:cs typeface="Arial" charset="0"/>
                      </a:endParaRPr>
                    </a:p>
                  </a:txBody>
                  <a:tcPr marL="73152" marR="73152"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txBox="1"/>
          <p:nvPr/>
        </p:nvSpPr>
        <p:spPr>
          <a:xfrm>
            <a:off x="6583680" y="5166360"/>
            <a:ext cx="4937760" cy="6400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404040"/>
                </a:solidFill>
                <a:effectLst/>
                <a:uLnTx/>
                <a:uFillTx/>
                <a:latin typeface="Arial" pitchFamily="34" charset="0"/>
                <a:ea typeface="Arial" pitchFamily="34" charset="-122"/>
                <a:cs typeface="Arial" pitchFamily="34" charset="-120"/>
              </a:rPr>
              <a:t>Each record keeps its vector, its original text, and where it came from. Nothing is dissolved into the model.</a:t>
            </a:r>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18082-9B24-C0BE-4201-515961EC8420}"/>
              </a:ext>
            </a:extLst>
          </p:cNvPr>
          <p:cNvSpPr>
            <a:spLocks noGrp="1"/>
          </p:cNvSpPr>
          <p:nvPr>
            <p:ph type="title"/>
          </p:nvPr>
        </p:nvSpPr>
        <p:spPr/>
        <p:txBody>
          <a:bodyPr/>
          <a:lstStyle/>
          <a:p>
            <a:r>
              <a:rPr lang="en-US" dirty="0"/>
              <a:t>Agent</a:t>
            </a:r>
          </a:p>
        </p:txBody>
      </p:sp>
      <p:sp>
        <p:nvSpPr>
          <p:cNvPr id="3" name="Text Placeholder 2">
            <a:extLst>
              <a:ext uri="{FF2B5EF4-FFF2-40B4-BE49-F238E27FC236}">
                <a16:creationId xmlns:a16="http://schemas.microsoft.com/office/drawing/2014/main" id="{DB27EA52-65B6-E054-FC0D-72E4774EFD4F}"/>
              </a:ext>
            </a:extLst>
          </p:cNvPr>
          <p:cNvSpPr>
            <a:spLocks noGrp="1"/>
          </p:cNvSpPr>
          <p:nvPr>
            <p:ph type="body" idx="1"/>
          </p:nvPr>
        </p:nvSpPr>
        <p:spPr/>
        <p:txBody>
          <a:bodyPr>
            <a:normAutofit/>
          </a:bodyPr>
          <a:lstStyle/>
          <a:p>
            <a:r>
              <a:rPr lang="en-US" sz="1800" dirty="0"/>
              <a:t>Current Model: </a:t>
            </a:r>
            <a:r>
              <a:rPr lang="en-US" sz="1800" dirty="0" err="1"/>
              <a:t>Nemotron</a:t>
            </a:r>
            <a:r>
              <a:rPr lang="en-US" sz="1800" dirty="0"/>
              <a:t> 3.5 Lightning </a:t>
            </a:r>
          </a:p>
          <a:p>
            <a:pPr lvl="1"/>
            <a:r>
              <a:rPr lang="en-US" sz="1400" dirty="0"/>
              <a:t>30 billion parameter mixture of experts model (</a:t>
            </a:r>
            <a:r>
              <a:rPr lang="en-US" sz="1400" dirty="0" err="1"/>
              <a:t>MoE</a:t>
            </a:r>
            <a:r>
              <a:rPr lang="en-US" sz="1400" dirty="0"/>
              <a:t>)</a:t>
            </a:r>
          </a:p>
          <a:p>
            <a:pPr lvl="1"/>
            <a:r>
              <a:rPr lang="en-US" sz="1400" dirty="0"/>
              <a:t>Model hosted through </a:t>
            </a:r>
            <a:r>
              <a:rPr lang="en-US" sz="1400" dirty="0" err="1"/>
              <a:t>Ollama</a:t>
            </a:r>
            <a:r>
              <a:rPr lang="en-US" sz="1400" dirty="0"/>
              <a:t> via Python</a:t>
            </a:r>
          </a:p>
          <a:p>
            <a:pPr lvl="1"/>
            <a:r>
              <a:rPr lang="en-US" sz="1400" dirty="0"/>
              <a:t>Browser UI</a:t>
            </a:r>
          </a:p>
          <a:p>
            <a:pPr lvl="1"/>
            <a:r>
              <a:rPr lang="en-US" sz="1400" dirty="0"/>
              <a:t>Tool Calling:</a:t>
            </a:r>
          </a:p>
          <a:p>
            <a:pPr lvl="2"/>
            <a:r>
              <a:rPr lang="en-US" sz="900" dirty="0" err="1"/>
              <a:t>get_collections</a:t>
            </a:r>
            <a:endParaRPr lang="en-US" sz="900" dirty="0"/>
          </a:p>
          <a:p>
            <a:pPr lvl="2"/>
            <a:r>
              <a:rPr lang="en-US" sz="900" dirty="0" err="1"/>
              <a:t>query_collection</a:t>
            </a:r>
            <a:endParaRPr lang="en-US" sz="900" dirty="0"/>
          </a:p>
          <a:p>
            <a:pPr lvl="2"/>
            <a:r>
              <a:rPr lang="en-US" sz="900" dirty="0" err="1"/>
              <a:t>get_time</a:t>
            </a:r>
            <a:endParaRPr lang="en-US" sz="900" dirty="0"/>
          </a:p>
          <a:p>
            <a:pPr lvl="2"/>
            <a:r>
              <a:rPr lang="en-US" sz="900" dirty="0" err="1"/>
              <a:t>get_weather</a:t>
            </a:r>
            <a:endParaRPr lang="en-US" sz="900" dirty="0"/>
          </a:p>
          <a:p>
            <a:pPr lvl="2"/>
            <a:r>
              <a:rPr lang="en-US" sz="900" dirty="0" err="1"/>
              <a:t>search_text</a:t>
            </a:r>
            <a:endParaRPr lang="en-US" sz="900" dirty="0"/>
          </a:p>
          <a:p>
            <a:pPr lvl="2"/>
            <a:r>
              <a:rPr lang="en-US" sz="900" dirty="0" err="1"/>
              <a:t>search_images</a:t>
            </a:r>
            <a:endParaRPr lang="en-US" sz="900" dirty="0"/>
          </a:p>
          <a:p>
            <a:pPr lvl="2"/>
            <a:r>
              <a:rPr lang="en-US" sz="900" dirty="0" err="1"/>
              <a:t>search_news</a:t>
            </a:r>
            <a:endParaRPr lang="en-US" sz="900" dirty="0"/>
          </a:p>
          <a:p>
            <a:pPr lvl="2"/>
            <a:r>
              <a:rPr lang="en-US" sz="900" dirty="0" err="1"/>
              <a:t>search_videos</a:t>
            </a:r>
            <a:endParaRPr lang="en-US" sz="900" dirty="0"/>
          </a:p>
          <a:p>
            <a:pPr lvl="2"/>
            <a:r>
              <a:rPr lang="en-US" sz="900" dirty="0" err="1"/>
              <a:t>search_books</a:t>
            </a:r>
            <a:endParaRPr lang="en-US" sz="900" dirty="0"/>
          </a:p>
          <a:p>
            <a:pPr lvl="2"/>
            <a:r>
              <a:rPr lang="en-US" sz="900" dirty="0" err="1"/>
              <a:t>extract_content</a:t>
            </a:r>
            <a:endParaRPr lang="en-US" sz="900" dirty="0"/>
          </a:p>
          <a:p>
            <a:pPr lvl="2"/>
            <a:r>
              <a:rPr lang="en-US" sz="900" dirty="0" err="1"/>
              <a:t>sequentialthinking</a:t>
            </a:r>
            <a:endParaRPr lang="en-US" sz="900" dirty="0"/>
          </a:p>
          <a:p>
            <a:pPr lvl="2"/>
            <a:endParaRPr lang="en-US" sz="1000" dirty="0"/>
          </a:p>
          <a:p>
            <a:pPr lvl="1"/>
            <a:endParaRPr lang="en-US" sz="1400" dirty="0"/>
          </a:p>
        </p:txBody>
      </p:sp>
      <p:sp>
        <p:nvSpPr>
          <p:cNvPr id="4" name="Slide Number Placeholder 3">
            <a:extLst>
              <a:ext uri="{FF2B5EF4-FFF2-40B4-BE49-F238E27FC236}">
                <a16:creationId xmlns:a16="http://schemas.microsoft.com/office/drawing/2014/main" id="{26A60E13-3F89-1501-7031-CBB9C6B384E8}"/>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14</a:t>
            </a:fld>
            <a:endParaRPr lang="en-US"/>
          </a:p>
        </p:txBody>
      </p:sp>
      <p:pic>
        <p:nvPicPr>
          <p:cNvPr id="5" name="Picture 4">
            <a:extLst>
              <a:ext uri="{FF2B5EF4-FFF2-40B4-BE49-F238E27FC236}">
                <a16:creationId xmlns:a16="http://schemas.microsoft.com/office/drawing/2014/main" id="{85884FA7-5DE7-048A-361E-7EFC53E376B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172202" y="1781175"/>
            <a:ext cx="5667375" cy="3295650"/>
          </a:xfrm>
          <a:prstGeom prst="rect">
            <a:avLst/>
          </a:prstGeom>
          <a:noFill/>
          <a:ln>
            <a:noFill/>
          </a:ln>
        </p:spPr>
      </p:pic>
    </p:spTree>
    <p:extLst>
      <p:ext uri="{BB962C8B-B14F-4D97-AF65-F5344CB8AC3E}">
        <p14:creationId xmlns:p14="http://schemas.microsoft.com/office/powerpoint/2010/main" val="33406423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CB00B-136F-D666-51B1-EB53F6C9E03D}"/>
              </a:ext>
            </a:extLst>
          </p:cNvPr>
          <p:cNvSpPr>
            <a:spLocks noGrp="1"/>
          </p:cNvSpPr>
          <p:nvPr>
            <p:ph type="title"/>
          </p:nvPr>
        </p:nvSpPr>
        <p:spPr/>
        <p:txBody>
          <a:bodyPr/>
          <a:lstStyle/>
          <a:p>
            <a:r>
              <a:rPr lang="en-US" dirty="0"/>
              <a:t>Retrieval </a:t>
            </a:r>
          </a:p>
        </p:txBody>
      </p:sp>
      <p:sp>
        <p:nvSpPr>
          <p:cNvPr id="3" name="Text Placeholder 2">
            <a:extLst>
              <a:ext uri="{FF2B5EF4-FFF2-40B4-BE49-F238E27FC236}">
                <a16:creationId xmlns:a16="http://schemas.microsoft.com/office/drawing/2014/main" id="{586E1220-42E8-8891-CB9D-21C63AF59C3A}"/>
              </a:ext>
            </a:extLst>
          </p:cNvPr>
          <p:cNvSpPr>
            <a:spLocks noGrp="1"/>
          </p:cNvSpPr>
          <p:nvPr>
            <p:ph type="body" idx="1"/>
          </p:nvPr>
        </p:nvSpPr>
        <p:spPr/>
        <p:txBody>
          <a:bodyPr>
            <a:normAutofit/>
          </a:bodyPr>
          <a:lstStyle/>
          <a:p>
            <a:r>
              <a:rPr lang="en-US" sz="1600" dirty="0"/>
              <a:t>Retrieval of documents is based on tool use.</a:t>
            </a:r>
          </a:p>
          <a:p>
            <a:pPr lvl="1"/>
            <a:r>
              <a:rPr lang="en-US" sz="1600" dirty="0" err="1"/>
              <a:t>Get_collections</a:t>
            </a:r>
            <a:endParaRPr lang="en-US" sz="1600" dirty="0"/>
          </a:p>
          <a:p>
            <a:pPr lvl="2"/>
            <a:r>
              <a:rPr lang="en-US" sz="1600" dirty="0"/>
              <a:t>Checks what collections exist</a:t>
            </a:r>
          </a:p>
          <a:p>
            <a:pPr lvl="1"/>
            <a:r>
              <a:rPr lang="en-US" sz="1600" dirty="0" err="1"/>
              <a:t>Query_collection</a:t>
            </a:r>
            <a:endParaRPr lang="en-US" sz="1600" dirty="0"/>
          </a:p>
          <a:p>
            <a:pPr lvl="2"/>
            <a:r>
              <a:rPr lang="en-US" sz="1600" dirty="0"/>
              <a:t>Query collection</a:t>
            </a:r>
          </a:p>
          <a:p>
            <a:r>
              <a:rPr lang="en-US" sz="1600" dirty="0"/>
              <a:t>Example document: </a:t>
            </a:r>
            <a:r>
              <a:rPr lang="en-US" sz="1600" dirty="0" err="1"/>
              <a:t>arts_lab_graduate_handbook</a:t>
            </a:r>
            <a:endParaRPr lang="en-US" sz="1600" dirty="0"/>
          </a:p>
          <a:p>
            <a:pPr marL="50800" indent="0">
              <a:buNone/>
            </a:pPr>
            <a:endParaRPr lang="en-US" sz="1600" dirty="0"/>
          </a:p>
        </p:txBody>
      </p:sp>
      <p:sp>
        <p:nvSpPr>
          <p:cNvPr id="4" name="Slide Number Placeholder 3">
            <a:extLst>
              <a:ext uri="{FF2B5EF4-FFF2-40B4-BE49-F238E27FC236}">
                <a16:creationId xmlns:a16="http://schemas.microsoft.com/office/drawing/2014/main" id="{2119C2C5-8677-2987-4D41-0F4040E7C5C6}"/>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15</a:t>
            </a:fld>
            <a:endParaRPr lang="en-US" dirty="0"/>
          </a:p>
        </p:txBody>
      </p:sp>
      <p:pic>
        <p:nvPicPr>
          <p:cNvPr id="6" name="Picture 5">
            <a:extLst>
              <a:ext uri="{FF2B5EF4-FFF2-40B4-BE49-F238E27FC236}">
                <a16:creationId xmlns:a16="http://schemas.microsoft.com/office/drawing/2014/main" id="{0E7F372A-137C-1D49-AE34-9822B53A5A51}"/>
              </a:ext>
            </a:extLst>
          </p:cNvPr>
          <p:cNvPicPr>
            <a:picLocks noChangeAspect="1"/>
          </p:cNvPicPr>
          <p:nvPr/>
        </p:nvPicPr>
        <p:blipFill>
          <a:blip r:embed="rId2"/>
          <a:stretch>
            <a:fillRect/>
          </a:stretch>
        </p:blipFill>
        <p:spPr>
          <a:xfrm>
            <a:off x="7204366" y="794163"/>
            <a:ext cx="4088154" cy="5269674"/>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
        <p:nvSpPr>
          <p:cNvPr id="8" name="TextBox 7">
            <a:extLst>
              <a:ext uri="{FF2B5EF4-FFF2-40B4-BE49-F238E27FC236}">
                <a16:creationId xmlns:a16="http://schemas.microsoft.com/office/drawing/2014/main" id="{0224AE0C-F092-C06D-DF98-AC6111BA08DB}"/>
              </a:ext>
            </a:extLst>
          </p:cNvPr>
          <p:cNvSpPr txBox="1"/>
          <p:nvPr/>
        </p:nvSpPr>
        <p:spPr>
          <a:xfrm>
            <a:off x="1287596" y="6004322"/>
            <a:ext cx="5643939" cy="230832"/>
          </a:xfrm>
          <a:prstGeom prst="rect">
            <a:avLst/>
          </a:prstGeom>
          <a:noFill/>
        </p:spPr>
        <p:txBody>
          <a:bodyPr wrap="square" rtlCol="0">
            <a:spAutoFit/>
          </a:bodyPr>
          <a:lstStyle/>
          <a:p>
            <a:r>
              <a:rPr lang="en-US" sz="900" dirty="0"/>
              <a:t>Downey, Austin R. J. </a:t>
            </a:r>
            <a:r>
              <a:rPr lang="en-US" sz="900" i="1" dirty="0"/>
              <a:t>ARTS-Lab Graduate Student Handbook</a:t>
            </a:r>
            <a:r>
              <a:rPr lang="en-US" sz="900" dirty="0"/>
              <a:t>. 27 July 2026.</a:t>
            </a:r>
            <a:endParaRPr lang="en-US" sz="600" dirty="0"/>
          </a:p>
        </p:txBody>
      </p:sp>
    </p:spTree>
    <p:extLst>
      <p:ext uri="{BB962C8B-B14F-4D97-AF65-F5344CB8AC3E}">
        <p14:creationId xmlns:p14="http://schemas.microsoft.com/office/powerpoint/2010/main" val="17067722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32187-8A41-DEEE-7FF1-53AF421AE658}"/>
              </a:ext>
            </a:extLst>
          </p:cNvPr>
          <p:cNvSpPr>
            <a:spLocks noGrp="1"/>
          </p:cNvSpPr>
          <p:nvPr>
            <p:ph type="title"/>
          </p:nvPr>
        </p:nvSpPr>
        <p:spPr/>
        <p:txBody>
          <a:bodyPr/>
          <a:lstStyle/>
          <a:p>
            <a:r>
              <a:rPr lang="en-US" dirty="0"/>
              <a:t>Overall Results</a:t>
            </a:r>
          </a:p>
        </p:txBody>
      </p:sp>
      <p:sp>
        <p:nvSpPr>
          <p:cNvPr id="4" name="Slide Number Placeholder 3">
            <a:extLst>
              <a:ext uri="{FF2B5EF4-FFF2-40B4-BE49-F238E27FC236}">
                <a16:creationId xmlns:a16="http://schemas.microsoft.com/office/drawing/2014/main" id="{07BC823C-C364-8751-21E8-E53EFEE14EBF}"/>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16</a:t>
            </a:fld>
            <a:endParaRPr lang="en-US"/>
          </a:p>
        </p:txBody>
      </p:sp>
      <p:graphicFrame>
        <p:nvGraphicFramePr>
          <p:cNvPr id="5" name="Table 4">
            <a:extLst>
              <a:ext uri="{FF2B5EF4-FFF2-40B4-BE49-F238E27FC236}">
                <a16:creationId xmlns:a16="http://schemas.microsoft.com/office/drawing/2014/main" id="{6EB9772B-7206-1D39-83B5-5F073235F24A}"/>
              </a:ext>
            </a:extLst>
          </p:cNvPr>
          <p:cNvGraphicFramePr>
            <a:graphicFrameLocks noGrp="1"/>
          </p:cNvGraphicFramePr>
          <p:nvPr>
            <p:extLst>
              <p:ext uri="{D42A27DB-BD31-4B8C-83A1-F6EECF244321}">
                <p14:modId xmlns:p14="http://schemas.microsoft.com/office/powerpoint/2010/main" val="2730500665"/>
              </p:ext>
            </p:extLst>
          </p:nvPr>
        </p:nvGraphicFramePr>
        <p:xfrm>
          <a:off x="838197" y="2235017"/>
          <a:ext cx="8772594" cy="1135761"/>
        </p:xfrm>
        <a:graphic>
          <a:graphicData uri="http://schemas.openxmlformats.org/drawingml/2006/table">
            <a:tbl>
              <a:tblPr firstRow="1" firstCol="1" bandRow="1">
                <a:tableStyleId>{B2C2A990-EB2E-4373-85A4-5289613AF594}</a:tableStyleId>
              </a:tblPr>
              <a:tblGrid>
                <a:gridCol w="1462099">
                  <a:extLst>
                    <a:ext uri="{9D8B030D-6E8A-4147-A177-3AD203B41FA5}">
                      <a16:colId xmlns:a16="http://schemas.microsoft.com/office/drawing/2014/main" val="2062053422"/>
                    </a:ext>
                  </a:extLst>
                </a:gridCol>
                <a:gridCol w="1462099">
                  <a:extLst>
                    <a:ext uri="{9D8B030D-6E8A-4147-A177-3AD203B41FA5}">
                      <a16:colId xmlns:a16="http://schemas.microsoft.com/office/drawing/2014/main" val="3303794858"/>
                    </a:ext>
                  </a:extLst>
                </a:gridCol>
                <a:gridCol w="1462099">
                  <a:extLst>
                    <a:ext uri="{9D8B030D-6E8A-4147-A177-3AD203B41FA5}">
                      <a16:colId xmlns:a16="http://schemas.microsoft.com/office/drawing/2014/main" val="2217081573"/>
                    </a:ext>
                  </a:extLst>
                </a:gridCol>
                <a:gridCol w="1462099">
                  <a:extLst>
                    <a:ext uri="{9D8B030D-6E8A-4147-A177-3AD203B41FA5}">
                      <a16:colId xmlns:a16="http://schemas.microsoft.com/office/drawing/2014/main" val="869905715"/>
                    </a:ext>
                  </a:extLst>
                </a:gridCol>
                <a:gridCol w="1462099">
                  <a:extLst>
                    <a:ext uri="{9D8B030D-6E8A-4147-A177-3AD203B41FA5}">
                      <a16:colId xmlns:a16="http://schemas.microsoft.com/office/drawing/2014/main" val="1529288498"/>
                    </a:ext>
                  </a:extLst>
                </a:gridCol>
                <a:gridCol w="1462099">
                  <a:extLst>
                    <a:ext uri="{9D8B030D-6E8A-4147-A177-3AD203B41FA5}">
                      <a16:colId xmlns:a16="http://schemas.microsoft.com/office/drawing/2014/main" val="3745011741"/>
                    </a:ext>
                  </a:extLst>
                </a:gridCol>
              </a:tblGrid>
              <a:tr h="200025">
                <a:tc>
                  <a:txBody>
                    <a:bodyPr/>
                    <a:lstStyle/>
                    <a:p>
                      <a:pPr marL="0" marR="0">
                        <a:lnSpc>
                          <a:spcPct val="115000"/>
                        </a:lnSpc>
                        <a:spcAft>
                          <a:spcPts val="800"/>
                        </a:spcAft>
                        <a:buNone/>
                      </a:pPr>
                      <a:r>
                        <a:rPr lang="en-US" sz="1000" kern="100" dirty="0">
                          <a:effectLst/>
                        </a:rPr>
                        <a:t>Total Prompt Tokens (tokens):</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28575" marR="28575" marT="19050" marB="19050" anchor="ctr"/>
                </a:tc>
                <a:tc>
                  <a:txBody>
                    <a:bodyPr/>
                    <a:lstStyle/>
                    <a:p>
                      <a:pPr marL="0" marR="0">
                        <a:lnSpc>
                          <a:spcPct val="115000"/>
                        </a:lnSpc>
                        <a:spcAft>
                          <a:spcPts val="800"/>
                        </a:spcAft>
                        <a:buNone/>
                      </a:pPr>
                      <a:r>
                        <a:rPr lang="en-US" sz="1000" kern="100">
                          <a:effectLst/>
                        </a:rPr>
                        <a:t>144285</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28575" marR="28575" marT="19050" marB="19050" anchor="ctr"/>
                </a:tc>
                <a:tc>
                  <a:txBody>
                    <a:bodyPr/>
                    <a:lstStyle/>
                    <a:p>
                      <a:pPr marL="0" marR="0">
                        <a:lnSpc>
                          <a:spcPct val="115000"/>
                        </a:lnSpc>
                        <a:spcAft>
                          <a:spcPts val="800"/>
                        </a:spcAft>
                        <a:buNone/>
                      </a:pPr>
                      <a:r>
                        <a:rPr lang="en-US" sz="1000" kern="100">
                          <a:effectLst/>
                        </a:rPr>
                        <a:t>Average Prompt Speed (tok/s):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28575" marR="28575" marT="19050" marB="19050" anchor="ctr"/>
                </a:tc>
                <a:tc>
                  <a:txBody>
                    <a:bodyPr/>
                    <a:lstStyle/>
                    <a:p>
                      <a:pPr marL="0" marR="0">
                        <a:lnSpc>
                          <a:spcPct val="115000"/>
                        </a:lnSpc>
                        <a:spcAft>
                          <a:spcPts val="800"/>
                        </a:spcAft>
                        <a:buNone/>
                      </a:pPr>
                      <a:r>
                        <a:rPr lang="en-US" sz="1000" kern="100">
                          <a:effectLst/>
                        </a:rPr>
                        <a:t>3111.16</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28575" marR="28575" marT="19050" marB="19050" anchor="ctr"/>
                </a:tc>
                <a:tc>
                  <a:txBody>
                    <a:bodyPr/>
                    <a:lstStyle/>
                    <a:p>
                      <a:pPr marL="0" marR="0">
                        <a:lnSpc>
                          <a:spcPct val="115000"/>
                        </a:lnSpc>
                        <a:spcAft>
                          <a:spcPts val="800"/>
                        </a:spcAft>
                        <a:buNone/>
                      </a:pPr>
                      <a:r>
                        <a:rPr lang="en-US" sz="1000" kern="100">
                          <a:effectLst/>
                        </a:rPr>
                        <a:t>Average Query Time (s):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28575" marR="28575" marT="19050" marB="19050" anchor="ctr"/>
                </a:tc>
                <a:tc>
                  <a:txBody>
                    <a:bodyPr/>
                    <a:lstStyle/>
                    <a:p>
                      <a:pPr marL="0" marR="0">
                        <a:lnSpc>
                          <a:spcPct val="115000"/>
                        </a:lnSpc>
                        <a:spcAft>
                          <a:spcPts val="800"/>
                        </a:spcAft>
                        <a:buNone/>
                      </a:pPr>
                      <a:r>
                        <a:rPr lang="en-US" sz="1000" kern="100">
                          <a:effectLst/>
                        </a:rPr>
                        <a:t>0.18</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28575" marR="28575" marT="19050" marB="19050" anchor="ctr"/>
                </a:tc>
                <a:extLst>
                  <a:ext uri="{0D108BD9-81ED-4DB2-BD59-A6C34878D82A}">
                    <a16:rowId xmlns:a16="http://schemas.microsoft.com/office/drawing/2014/main" val="1286788842"/>
                  </a:ext>
                </a:extLst>
              </a:tr>
              <a:tr h="200025">
                <a:tc>
                  <a:txBody>
                    <a:bodyPr/>
                    <a:lstStyle/>
                    <a:p>
                      <a:pPr marL="0" marR="0">
                        <a:lnSpc>
                          <a:spcPct val="115000"/>
                        </a:lnSpc>
                        <a:spcAft>
                          <a:spcPts val="800"/>
                        </a:spcAft>
                        <a:buNone/>
                      </a:pPr>
                      <a:r>
                        <a:rPr lang="en-US" sz="1000" kern="100" dirty="0">
                          <a:effectLst/>
                        </a:rPr>
                        <a:t>Total Generated Tokens (tokens):</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28575" marR="28575" marT="19050" marB="19050" anchor="ctr"/>
                </a:tc>
                <a:tc>
                  <a:txBody>
                    <a:bodyPr/>
                    <a:lstStyle/>
                    <a:p>
                      <a:pPr marL="0" marR="0">
                        <a:lnSpc>
                          <a:spcPct val="115000"/>
                        </a:lnSpc>
                        <a:spcAft>
                          <a:spcPts val="800"/>
                        </a:spcAft>
                        <a:buNone/>
                      </a:pPr>
                      <a:r>
                        <a:rPr lang="en-US" sz="1000" kern="100">
                          <a:effectLst/>
                        </a:rPr>
                        <a:t>16766</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28575" marR="28575" marT="19050" marB="19050" anchor="ctr"/>
                </a:tc>
                <a:tc>
                  <a:txBody>
                    <a:bodyPr/>
                    <a:lstStyle/>
                    <a:p>
                      <a:pPr marL="0" marR="0">
                        <a:lnSpc>
                          <a:spcPct val="115000"/>
                        </a:lnSpc>
                        <a:spcAft>
                          <a:spcPts val="800"/>
                        </a:spcAft>
                        <a:buNone/>
                      </a:pPr>
                      <a:r>
                        <a:rPr lang="en-US" sz="1000" kern="100">
                          <a:effectLst/>
                        </a:rPr>
                        <a:t>Average Generation Speed (tok/s):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28575" marR="28575" marT="19050" marB="19050" anchor="ctr"/>
                </a:tc>
                <a:tc>
                  <a:txBody>
                    <a:bodyPr/>
                    <a:lstStyle/>
                    <a:p>
                      <a:pPr marL="0" marR="0">
                        <a:lnSpc>
                          <a:spcPct val="115000"/>
                        </a:lnSpc>
                        <a:spcAft>
                          <a:spcPts val="800"/>
                        </a:spcAft>
                        <a:buNone/>
                      </a:pPr>
                      <a:r>
                        <a:rPr lang="en-US" sz="1000" kern="100">
                          <a:effectLst/>
                        </a:rPr>
                        <a:t>49.97</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28575" marR="28575" marT="19050" marB="19050" anchor="ctr"/>
                </a:tc>
                <a:tc>
                  <a:txBody>
                    <a:bodyPr/>
                    <a:lstStyle/>
                    <a:p>
                      <a:pPr marL="0" marR="0">
                        <a:lnSpc>
                          <a:spcPct val="115000"/>
                        </a:lnSpc>
                        <a:spcAft>
                          <a:spcPts val="800"/>
                        </a:spcAft>
                        <a:buNone/>
                      </a:pPr>
                      <a:r>
                        <a:rPr lang="en-US" sz="1000" kern="100">
                          <a:effectLst/>
                        </a:rPr>
                        <a:t>Average Response Time (s):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28575" marR="28575" marT="19050" marB="19050" anchor="ctr"/>
                </a:tc>
                <a:tc>
                  <a:txBody>
                    <a:bodyPr/>
                    <a:lstStyle/>
                    <a:p>
                      <a:pPr marL="0" marR="0">
                        <a:lnSpc>
                          <a:spcPct val="115000"/>
                        </a:lnSpc>
                        <a:spcAft>
                          <a:spcPts val="800"/>
                        </a:spcAft>
                        <a:buNone/>
                      </a:pPr>
                      <a:r>
                        <a:rPr lang="en-US" sz="1000" kern="100" dirty="0">
                          <a:effectLst/>
                        </a:rPr>
                        <a:t>26.62</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28575" marR="28575" marT="19050" marB="19050" anchor="ctr"/>
                </a:tc>
                <a:extLst>
                  <a:ext uri="{0D108BD9-81ED-4DB2-BD59-A6C34878D82A}">
                    <a16:rowId xmlns:a16="http://schemas.microsoft.com/office/drawing/2014/main" val="905619446"/>
                  </a:ext>
                </a:extLst>
              </a:tr>
              <a:tr h="200025">
                <a:tc>
                  <a:txBody>
                    <a:bodyPr/>
                    <a:lstStyle/>
                    <a:p>
                      <a:pPr marL="0" marR="0">
                        <a:lnSpc>
                          <a:spcPct val="115000"/>
                        </a:lnSpc>
                        <a:spcAft>
                          <a:spcPts val="800"/>
                        </a:spcAft>
                        <a:buNone/>
                      </a:pPr>
                      <a:r>
                        <a:rPr lang="en-US" sz="1000" kern="100">
                          <a:effectLst/>
                        </a:rPr>
                        <a:t>Total Tokens: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28575" marR="28575" marT="19050" marB="19050" anchor="ctr"/>
                </a:tc>
                <a:tc>
                  <a:txBody>
                    <a:bodyPr/>
                    <a:lstStyle/>
                    <a:p>
                      <a:pPr marL="0" marR="0">
                        <a:lnSpc>
                          <a:spcPct val="115000"/>
                        </a:lnSpc>
                        <a:spcAft>
                          <a:spcPts val="800"/>
                        </a:spcAft>
                        <a:buNone/>
                      </a:pPr>
                      <a:r>
                        <a:rPr lang="en-US" sz="1000" kern="100" dirty="0">
                          <a:effectLst/>
                        </a:rPr>
                        <a:t>161051</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28575" marR="28575" marT="19050" marB="19050" anchor="ctr"/>
                </a:tc>
                <a:tc>
                  <a:txBody>
                    <a:bodyPr/>
                    <a:lstStyle/>
                    <a:p>
                      <a:pPr marL="0" marR="0">
                        <a:lnSpc>
                          <a:spcPct val="115000"/>
                        </a:lnSpc>
                        <a:spcAft>
                          <a:spcPts val="800"/>
                        </a:spcAft>
                        <a:buNone/>
                      </a:pPr>
                      <a:r>
                        <a:rPr lang="en-US" sz="1000" kern="100">
                          <a:effectLst/>
                        </a:rPr>
                        <a:t>Average Generated Tokens (tokens):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28575" marR="28575" marT="19050" marB="19050" anchor="ctr"/>
                </a:tc>
                <a:tc>
                  <a:txBody>
                    <a:bodyPr/>
                    <a:lstStyle/>
                    <a:p>
                      <a:pPr marL="0" marR="0">
                        <a:lnSpc>
                          <a:spcPct val="115000"/>
                        </a:lnSpc>
                        <a:spcAft>
                          <a:spcPts val="800"/>
                        </a:spcAft>
                        <a:buNone/>
                      </a:pPr>
                      <a:r>
                        <a:rPr lang="en-US" sz="1000" kern="100">
                          <a:effectLst/>
                        </a:rPr>
                        <a:t>838</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28575" marR="28575" marT="19050" marB="19050" anchor="ctr"/>
                </a:tc>
                <a:tc>
                  <a:txBody>
                    <a:bodyPr/>
                    <a:lstStyle/>
                    <a:p>
                      <a:pPr marL="0" marR="0">
                        <a:lnSpc>
                          <a:spcPct val="115000"/>
                        </a:lnSpc>
                        <a:spcAft>
                          <a:spcPts val="800"/>
                        </a:spcAft>
                        <a:buNone/>
                      </a:pPr>
                      <a:r>
                        <a:rPr lang="en-US" sz="1000" kern="100">
                          <a:effectLst/>
                        </a:rPr>
                        <a:t>Average Prompt Tokens (tokens):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28575" marR="28575" marT="19050" marB="19050" anchor="ctr"/>
                </a:tc>
                <a:tc>
                  <a:txBody>
                    <a:bodyPr/>
                    <a:lstStyle/>
                    <a:p>
                      <a:pPr marL="0" marR="0">
                        <a:lnSpc>
                          <a:spcPct val="115000"/>
                        </a:lnSpc>
                        <a:spcAft>
                          <a:spcPts val="800"/>
                        </a:spcAft>
                        <a:buNone/>
                      </a:pPr>
                      <a:r>
                        <a:rPr lang="en-US" sz="1000" kern="100" dirty="0">
                          <a:effectLst/>
                        </a:rPr>
                        <a:t>7,212</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28575" marR="28575" marT="19050" marB="19050" anchor="ctr"/>
                </a:tc>
                <a:extLst>
                  <a:ext uri="{0D108BD9-81ED-4DB2-BD59-A6C34878D82A}">
                    <a16:rowId xmlns:a16="http://schemas.microsoft.com/office/drawing/2014/main" val="2688913599"/>
                  </a:ext>
                </a:extLst>
              </a:tr>
            </a:tbl>
          </a:graphicData>
        </a:graphic>
      </p:graphicFrame>
      <p:graphicFrame>
        <p:nvGraphicFramePr>
          <p:cNvPr id="6" name="Table 5">
            <a:extLst>
              <a:ext uri="{FF2B5EF4-FFF2-40B4-BE49-F238E27FC236}">
                <a16:creationId xmlns:a16="http://schemas.microsoft.com/office/drawing/2014/main" id="{7C5E31DE-667D-3E3D-B59B-7C09502CA04B}"/>
              </a:ext>
            </a:extLst>
          </p:cNvPr>
          <p:cNvGraphicFramePr>
            <a:graphicFrameLocks noGrp="1"/>
          </p:cNvGraphicFramePr>
          <p:nvPr>
            <p:extLst>
              <p:ext uri="{D42A27DB-BD31-4B8C-83A1-F6EECF244321}">
                <p14:modId xmlns:p14="http://schemas.microsoft.com/office/powerpoint/2010/main" val="3555851849"/>
              </p:ext>
            </p:extLst>
          </p:nvPr>
        </p:nvGraphicFramePr>
        <p:xfrm>
          <a:off x="838199" y="3915108"/>
          <a:ext cx="6707202" cy="1817370"/>
        </p:xfrm>
        <a:graphic>
          <a:graphicData uri="http://schemas.openxmlformats.org/drawingml/2006/table">
            <a:tbl>
              <a:tblPr firstRow="1" firstCol="1" bandRow="1">
                <a:tableStyleId>{B2C2A990-EB2E-4373-85A4-5289613AF594}</a:tableStyleId>
              </a:tblPr>
              <a:tblGrid>
                <a:gridCol w="398529">
                  <a:extLst>
                    <a:ext uri="{9D8B030D-6E8A-4147-A177-3AD203B41FA5}">
                      <a16:colId xmlns:a16="http://schemas.microsoft.com/office/drawing/2014/main" val="3236771085"/>
                    </a:ext>
                  </a:extLst>
                </a:gridCol>
                <a:gridCol w="2480562">
                  <a:extLst>
                    <a:ext uri="{9D8B030D-6E8A-4147-A177-3AD203B41FA5}">
                      <a16:colId xmlns:a16="http://schemas.microsoft.com/office/drawing/2014/main" val="4268473180"/>
                    </a:ext>
                  </a:extLst>
                </a:gridCol>
                <a:gridCol w="473765">
                  <a:extLst>
                    <a:ext uri="{9D8B030D-6E8A-4147-A177-3AD203B41FA5}">
                      <a16:colId xmlns:a16="http://schemas.microsoft.com/office/drawing/2014/main" val="2066421665"/>
                    </a:ext>
                  </a:extLst>
                </a:gridCol>
                <a:gridCol w="397784">
                  <a:extLst>
                    <a:ext uri="{9D8B030D-6E8A-4147-A177-3AD203B41FA5}">
                      <a16:colId xmlns:a16="http://schemas.microsoft.com/office/drawing/2014/main" val="535891610"/>
                    </a:ext>
                  </a:extLst>
                </a:gridCol>
                <a:gridCol w="2480562">
                  <a:extLst>
                    <a:ext uri="{9D8B030D-6E8A-4147-A177-3AD203B41FA5}">
                      <a16:colId xmlns:a16="http://schemas.microsoft.com/office/drawing/2014/main" val="2008423755"/>
                    </a:ext>
                  </a:extLst>
                </a:gridCol>
                <a:gridCol w="476000">
                  <a:extLst>
                    <a:ext uri="{9D8B030D-6E8A-4147-A177-3AD203B41FA5}">
                      <a16:colId xmlns:a16="http://schemas.microsoft.com/office/drawing/2014/main" val="641273526"/>
                    </a:ext>
                  </a:extLst>
                </a:gridCol>
              </a:tblGrid>
              <a:tr h="0">
                <a:tc>
                  <a:txBody>
                    <a:bodyPr/>
                    <a:lstStyle/>
                    <a:p>
                      <a:pPr marL="0" marR="0" algn="ctr">
                        <a:lnSpc>
                          <a:spcPct val="115000"/>
                        </a:lnSpc>
                        <a:spcAft>
                          <a:spcPts val="800"/>
                        </a:spcAft>
                        <a:buNone/>
                      </a:pPr>
                      <a:r>
                        <a:rPr lang="en-US" sz="1100" kern="100">
                          <a:effectLst/>
                        </a:rPr>
                        <a:t>1</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800" kern="100">
                          <a:effectLst/>
                        </a:rPr>
                        <a:t>What do I need to graduate with a Ph.D.?</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900" kern="100">
                          <a:effectLst/>
                        </a:rPr>
                        <a:t>Pass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100" kern="100">
                          <a:effectLst/>
                        </a:rPr>
                        <a:t>11</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800" kern="100">
                          <a:effectLst/>
                        </a:rPr>
                        <a:t>Compare M.S. vs. Ph.D. expectations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900" kern="100">
                          <a:effectLst/>
                        </a:rPr>
                        <a:t>Pass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236992666"/>
                  </a:ext>
                </a:extLst>
              </a:tr>
              <a:tr h="0">
                <a:tc>
                  <a:txBody>
                    <a:bodyPr/>
                    <a:lstStyle/>
                    <a:p>
                      <a:pPr marL="0" marR="0" algn="ctr">
                        <a:lnSpc>
                          <a:spcPct val="115000"/>
                        </a:lnSpc>
                        <a:spcAft>
                          <a:spcPts val="800"/>
                        </a:spcAft>
                        <a:buNone/>
                      </a:pPr>
                      <a:r>
                        <a:rPr lang="en-US" sz="1100" kern="100">
                          <a:effectLst/>
                        </a:rPr>
                        <a:t>2</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800" kern="100">
                          <a:effectLst/>
                        </a:rPr>
                        <a:t>What IDE does the lab recommend?</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900" kern="100">
                          <a:effectLst/>
                        </a:rPr>
                        <a:t>Pass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100" kern="100">
                          <a:effectLst/>
                        </a:rPr>
                        <a:t>12</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800" kern="100">
                          <a:effectLst/>
                        </a:rPr>
                        <a:t>Summarize the software stack</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900" kern="100">
                          <a:effectLst/>
                        </a:rPr>
                        <a:t>Pass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995385026"/>
                  </a:ext>
                </a:extLst>
              </a:tr>
              <a:tr h="0">
                <a:tc>
                  <a:txBody>
                    <a:bodyPr/>
                    <a:lstStyle/>
                    <a:p>
                      <a:pPr marL="0" marR="0" algn="ctr">
                        <a:lnSpc>
                          <a:spcPct val="115000"/>
                        </a:lnSpc>
                        <a:spcAft>
                          <a:spcPts val="800"/>
                        </a:spcAft>
                        <a:buNone/>
                      </a:pPr>
                      <a:r>
                        <a:rPr lang="en-US" sz="1100" kern="100">
                          <a:effectLst/>
                        </a:rPr>
                        <a:t>3</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800" kern="100">
                          <a:effectLst/>
                        </a:rPr>
                        <a:t>Can I work remotely?</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900" kern="100">
                          <a:effectLst/>
                        </a:rPr>
                        <a:t>Pass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100" kern="100">
                          <a:effectLst/>
                        </a:rPr>
                        <a:t>13</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800" kern="100">
                          <a:effectLst/>
                        </a:rPr>
                        <a:t>Can I graduate if my funding runs out?</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900" kern="100">
                          <a:effectLst/>
                        </a:rPr>
                        <a:t>Pass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134354673"/>
                  </a:ext>
                </a:extLst>
              </a:tr>
              <a:tr h="0">
                <a:tc>
                  <a:txBody>
                    <a:bodyPr/>
                    <a:lstStyle/>
                    <a:p>
                      <a:pPr marL="0" marR="0" algn="ctr">
                        <a:lnSpc>
                          <a:spcPct val="115000"/>
                        </a:lnSpc>
                        <a:spcAft>
                          <a:spcPts val="800"/>
                        </a:spcAft>
                        <a:buNone/>
                      </a:pPr>
                      <a:r>
                        <a:rPr lang="en-US" sz="1100" kern="100">
                          <a:effectLst/>
                        </a:rPr>
                        <a:t>4</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800" kern="100">
                          <a:effectLst/>
                        </a:rPr>
                        <a:t>Timeline for completing a Ph.D.</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900" kern="100">
                          <a:effectLst/>
                        </a:rPr>
                        <a:t>Fail</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100" kern="100">
                          <a:effectLst/>
                        </a:rPr>
                        <a:t>14</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800" kern="100">
                          <a:effectLst/>
                        </a:rPr>
                        <a:t>How should I spend my time at conferences?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900" kern="100">
                          <a:effectLst/>
                        </a:rPr>
                        <a:t>Pass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724872473"/>
                  </a:ext>
                </a:extLst>
              </a:tr>
              <a:tr h="0">
                <a:tc>
                  <a:txBody>
                    <a:bodyPr/>
                    <a:lstStyle/>
                    <a:p>
                      <a:pPr marL="0" marR="0" algn="ctr">
                        <a:lnSpc>
                          <a:spcPct val="115000"/>
                        </a:lnSpc>
                        <a:spcAft>
                          <a:spcPts val="800"/>
                        </a:spcAft>
                        <a:buNone/>
                      </a:pPr>
                      <a:r>
                        <a:rPr lang="en-US" sz="1100" kern="100">
                          <a:effectLst/>
                        </a:rPr>
                        <a:t>5</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800" kern="100">
                          <a:effectLst/>
                        </a:rPr>
                        <a:t>How should I structure my dissertation?</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900" kern="100">
                          <a:effectLst/>
                        </a:rPr>
                        <a:t>Fail</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100" kern="100">
                          <a:effectLst/>
                        </a:rPr>
                        <a:t>15</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800" kern="100">
                          <a:effectLst/>
                        </a:rPr>
                        <a:t>Why do I need a “making_figures” folder?</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900" kern="100">
                          <a:effectLst/>
                        </a:rPr>
                        <a:t>Pass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238853008"/>
                  </a:ext>
                </a:extLst>
              </a:tr>
              <a:tr h="0">
                <a:tc>
                  <a:txBody>
                    <a:bodyPr/>
                    <a:lstStyle/>
                    <a:p>
                      <a:pPr marL="0" marR="0" algn="ctr">
                        <a:lnSpc>
                          <a:spcPct val="115000"/>
                        </a:lnSpc>
                        <a:spcAft>
                          <a:spcPts val="800"/>
                        </a:spcAft>
                        <a:buNone/>
                      </a:pPr>
                      <a:r>
                        <a:rPr lang="en-US" sz="1100" kern="100">
                          <a:effectLst/>
                        </a:rPr>
                        <a:t>6</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800" kern="100">
                          <a:effectLst/>
                        </a:rPr>
                        <a:t>What to do with figures in “making_figures”?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900" kern="100">
                          <a:effectLst/>
                        </a:rPr>
                        <a:t>Pass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100" kern="100">
                          <a:effectLst/>
                        </a:rPr>
                        <a:t>16</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800" kern="100">
                          <a:effectLst/>
                        </a:rPr>
                        <a:t>Font sizes in figures?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900" kern="100">
                          <a:effectLst/>
                        </a:rPr>
                        <a:t>Pass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570173420"/>
                  </a:ext>
                </a:extLst>
              </a:tr>
              <a:tr h="0">
                <a:tc>
                  <a:txBody>
                    <a:bodyPr/>
                    <a:lstStyle/>
                    <a:p>
                      <a:pPr marL="0" marR="0" algn="ctr">
                        <a:lnSpc>
                          <a:spcPct val="115000"/>
                        </a:lnSpc>
                        <a:spcAft>
                          <a:spcPts val="800"/>
                        </a:spcAft>
                        <a:buNone/>
                      </a:pPr>
                      <a:r>
                        <a:rPr lang="en-US" sz="1100" kern="100">
                          <a:effectLst/>
                        </a:rPr>
                        <a:t>7</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800" kern="100" dirty="0">
                          <a:effectLst/>
                        </a:rPr>
                        <a:t>Do I have to say hi to Dr. Downey at a conference?</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900" kern="100">
                          <a:effectLst/>
                        </a:rPr>
                        <a:t>Fail</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100" kern="100">
                          <a:effectLst/>
                        </a:rPr>
                        <a:t>17</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800" kern="100">
                          <a:effectLst/>
                        </a:rPr>
                        <a:t>Who do we work for?</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900" kern="100">
                          <a:effectLst/>
                        </a:rPr>
                        <a:t>Pass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683381638"/>
                  </a:ext>
                </a:extLst>
              </a:tr>
              <a:tr h="0">
                <a:tc>
                  <a:txBody>
                    <a:bodyPr/>
                    <a:lstStyle/>
                    <a:p>
                      <a:pPr marL="0" marR="0" algn="ctr">
                        <a:lnSpc>
                          <a:spcPct val="115000"/>
                        </a:lnSpc>
                        <a:spcAft>
                          <a:spcPts val="800"/>
                        </a:spcAft>
                        <a:buNone/>
                      </a:pPr>
                      <a:r>
                        <a:rPr lang="en-US" sz="1100" kern="100">
                          <a:effectLst/>
                        </a:rPr>
                        <a:t>8</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800" kern="100">
                          <a:effectLst/>
                        </a:rPr>
                        <a:t>Expected version of M.S. thesis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900" kern="100">
                          <a:effectLst/>
                        </a:rPr>
                        <a:t>Pass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100" kern="100">
                          <a:effectLst/>
                        </a:rPr>
                        <a:t>18</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800" kern="100">
                          <a:effectLst/>
                        </a:rPr>
                        <a:t>What values does ARTS-Lab expect?</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900" kern="100">
                          <a:effectLst/>
                        </a:rPr>
                        <a:t>Pass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249061109"/>
                  </a:ext>
                </a:extLst>
              </a:tr>
              <a:tr h="0">
                <a:tc>
                  <a:txBody>
                    <a:bodyPr/>
                    <a:lstStyle/>
                    <a:p>
                      <a:pPr marL="0" marR="0" algn="ctr">
                        <a:lnSpc>
                          <a:spcPct val="115000"/>
                        </a:lnSpc>
                        <a:spcAft>
                          <a:spcPts val="800"/>
                        </a:spcAft>
                        <a:buNone/>
                      </a:pPr>
                      <a:r>
                        <a:rPr lang="en-US" sz="1100" kern="100">
                          <a:effectLst/>
                        </a:rPr>
                        <a:t>9</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800" kern="100">
                          <a:effectLst/>
                        </a:rPr>
                        <a:t>Compare qualifier, proposal, final defense</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900" kern="100">
                          <a:effectLst/>
                        </a:rPr>
                        <a:t>Pass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100" kern="100">
                          <a:effectLst/>
                        </a:rPr>
                        <a:t>19</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800" kern="100">
                          <a:effectLst/>
                        </a:rPr>
                        <a:t>What is LaTeX?</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900" kern="100">
                          <a:effectLst/>
                        </a:rPr>
                        <a:t>Pass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701330017"/>
                  </a:ext>
                </a:extLst>
              </a:tr>
              <a:tr h="0">
                <a:tc>
                  <a:txBody>
                    <a:bodyPr/>
                    <a:lstStyle/>
                    <a:p>
                      <a:pPr marL="0" marR="0" algn="ctr">
                        <a:lnSpc>
                          <a:spcPct val="115000"/>
                        </a:lnSpc>
                        <a:spcAft>
                          <a:spcPts val="800"/>
                        </a:spcAft>
                        <a:buNone/>
                      </a:pPr>
                      <a:r>
                        <a:rPr lang="en-US" sz="1100" kern="100">
                          <a:effectLst/>
                        </a:rPr>
                        <a:t>10</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800" kern="100" dirty="0">
                          <a:effectLst/>
                        </a:rPr>
                        <a:t>How does cosine similarity work?</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900" kern="100">
                          <a:effectLst/>
                        </a:rPr>
                        <a:t>Pass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100" kern="100">
                          <a:effectLst/>
                        </a:rPr>
                        <a:t>20</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800" kern="100">
                          <a:effectLst/>
                        </a:rPr>
                        <a:t>What is peer review?</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900" kern="100" dirty="0">
                          <a:effectLst/>
                        </a:rPr>
                        <a:t>Pass</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896409861"/>
                  </a:ext>
                </a:extLst>
              </a:tr>
            </a:tbl>
          </a:graphicData>
        </a:graphic>
      </p:graphicFrame>
      <p:sp>
        <p:nvSpPr>
          <p:cNvPr id="7" name="TextBox 6">
            <a:extLst>
              <a:ext uri="{FF2B5EF4-FFF2-40B4-BE49-F238E27FC236}">
                <a16:creationId xmlns:a16="http://schemas.microsoft.com/office/drawing/2014/main" id="{592C15CD-5E8A-97C6-DC4A-04165FF7D1B2}"/>
              </a:ext>
            </a:extLst>
          </p:cNvPr>
          <p:cNvSpPr txBox="1"/>
          <p:nvPr/>
        </p:nvSpPr>
        <p:spPr>
          <a:xfrm>
            <a:off x="838199" y="1834311"/>
            <a:ext cx="3721012" cy="307777"/>
          </a:xfrm>
          <a:prstGeom prst="rect">
            <a:avLst/>
          </a:prstGeom>
          <a:noFill/>
        </p:spPr>
        <p:txBody>
          <a:bodyPr wrap="square" rtlCol="0">
            <a:spAutoFit/>
          </a:bodyPr>
          <a:lstStyle/>
          <a:p>
            <a:r>
              <a:rPr lang="en-US" dirty="0"/>
              <a:t>Performance: </a:t>
            </a:r>
          </a:p>
        </p:txBody>
      </p:sp>
      <p:sp>
        <p:nvSpPr>
          <p:cNvPr id="9" name="TextBox 8">
            <a:extLst>
              <a:ext uri="{FF2B5EF4-FFF2-40B4-BE49-F238E27FC236}">
                <a16:creationId xmlns:a16="http://schemas.microsoft.com/office/drawing/2014/main" id="{F06173A3-1CB1-2B32-D276-35DCB20FB4DE}"/>
              </a:ext>
            </a:extLst>
          </p:cNvPr>
          <p:cNvSpPr txBox="1"/>
          <p:nvPr/>
        </p:nvSpPr>
        <p:spPr>
          <a:xfrm>
            <a:off x="838199" y="3487223"/>
            <a:ext cx="3721012" cy="307777"/>
          </a:xfrm>
          <a:prstGeom prst="rect">
            <a:avLst/>
          </a:prstGeom>
          <a:noFill/>
        </p:spPr>
        <p:txBody>
          <a:bodyPr wrap="square" rtlCol="0">
            <a:spAutoFit/>
          </a:bodyPr>
          <a:lstStyle/>
          <a:p>
            <a:r>
              <a:rPr lang="en-US" dirty="0"/>
              <a:t>Questions: </a:t>
            </a:r>
          </a:p>
        </p:txBody>
      </p:sp>
      <p:pic>
        <p:nvPicPr>
          <p:cNvPr id="3" name="Picture 2" descr="Laugh Point Meme - Laugh Point Cat - Discover &amp; Share GIFs">
            <a:extLst>
              <a:ext uri="{FF2B5EF4-FFF2-40B4-BE49-F238E27FC236}">
                <a16:creationId xmlns:a16="http://schemas.microsoft.com/office/drawing/2014/main" id="{3667405A-EC94-76BB-0173-075B4DEE4CF6}"/>
              </a:ext>
            </a:extLst>
          </p:cNvPr>
          <p:cNvPicPr>
            <a:picLocks noChangeAspect="1"/>
          </p:cNvPicPr>
          <p:nvPr/>
        </p:nvPicPr>
        <p:blipFill>
          <a:blip r:embed="rId2"/>
          <a:stretch>
            <a:fillRect/>
          </a:stretch>
        </p:blipFill>
        <p:spPr>
          <a:xfrm>
            <a:off x="4107923" y="5072062"/>
            <a:ext cx="68272" cy="68272"/>
          </a:xfrm>
          <a:prstGeom prst="rect">
            <a:avLst/>
          </a:prstGeom>
        </p:spPr>
      </p:pic>
    </p:spTree>
    <p:extLst>
      <p:ext uri="{BB962C8B-B14F-4D97-AF65-F5344CB8AC3E}">
        <p14:creationId xmlns:p14="http://schemas.microsoft.com/office/powerpoint/2010/main" val="35066984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prstGeom prst="rect">
            <a:avLst/>
          </a:prstGeom>
          <a:noFill/>
          <a:ln/>
        </p:spPr>
        <p:txBody>
          <a:bodyPr wrap="square" lIns="0" tIns="0" rIns="0" bIns="0" rtlCol="0" anchor="ctr"/>
          <a:lstStyle/>
          <a:p>
            <a:pPr marL="0" indent="0" algn="l">
              <a:buNone/>
            </a:pPr>
            <a:r>
              <a:rPr lang="en-US" sz="3600" dirty="0">
                <a:solidFill>
                  <a:schemeClr val="tx1"/>
                </a:solidFill>
                <a:latin typeface="Arial Black" pitchFamily="34" charset="0"/>
                <a:ea typeface="Arial Black" pitchFamily="34" charset="-122"/>
                <a:cs typeface="Arial Black" pitchFamily="34" charset="-120"/>
              </a:rPr>
              <a:t>Retrieval Versus Fine-Tuning</a:t>
            </a:r>
            <a:endParaRPr lang="en-US" sz="3600" dirty="0"/>
          </a:p>
        </p:txBody>
      </p:sp>
      <p:sp>
        <p:nvSpPr>
          <p:cNvPr id="3" name="Text 2"/>
          <p:cNvSpPr>
            <a:spLocks noGrp="1"/>
          </p:cNvSpPr>
          <p:nvPr>
            <p:ph type="body" idx="1"/>
          </p:nvPr>
        </p:nvSpPr>
        <p:spPr>
          <a:prstGeom prst="rect">
            <a:avLst/>
          </a:prstGeom>
          <a:noFill/>
          <a:ln/>
        </p:spPr>
        <p:txBody>
          <a:bodyPr wrap="square" rtlCol="0" anchor="t"/>
          <a:lstStyle/>
          <a:p>
            <a:pPr marL="342900" indent="-342900">
              <a:spcAft>
                <a:spcPts val="800"/>
              </a:spcAft>
              <a:buSzPct val="100000"/>
              <a:buChar char="•"/>
            </a:pPr>
            <a:r>
              <a:rPr lang="en-US" sz="2200" dirty="0">
                <a:solidFill>
                  <a:schemeClr val="tx1"/>
                </a:solidFill>
                <a:latin typeface="Arial" pitchFamily="34" charset="0"/>
                <a:ea typeface="Arial" pitchFamily="34" charset="-122"/>
                <a:cs typeface="Arial" pitchFamily="34" charset="-120"/>
              </a:rPr>
              <a:t>Fine-tuning retrains the model on our documents</a:t>
            </a:r>
            <a:endParaRPr lang="en-US" sz="2200" dirty="0"/>
          </a:p>
          <a:p>
            <a:pPr marL="685800" lvl="1" indent="-342900">
              <a:spcAft>
                <a:spcPts val="400"/>
              </a:spcAft>
              <a:buSzPct val="100000"/>
              <a:buChar char="•"/>
            </a:pPr>
            <a:r>
              <a:rPr lang="en-US" sz="1800" dirty="0">
                <a:solidFill>
                  <a:schemeClr val="tx1"/>
                </a:solidFill>
                <a:latin typeface="Arial" pitchFamily="34" charset="0"/>
                <a:ea typeface="Arial" pitchFamily="34" charset="-122"/>
                <a:cs typeface="Arial" pitchFamily="34" charset="-120"/>
              </a:rPr>
              <a:t>Knowledge dissolves into the weights</a:t>
            </a:r>
            <a:endParaRPr lang="en-US" sz="2200" dirty="0"/>
          </a:p>
          <a:p>
            <a:pPr marL="342900" indent="-342900">
              <a:spcBef>
                <a:spcPts val="600"/>
              </a:spcBef>
              <a:spcAft>
                <a:spcPts val="800"/>
              </a:spcAft>
              <a:buSzPct val="100000"/>
              <a:buChar char="•"/>
            </a:pPr>
            <a:r>
              <a:rPr lang="en-US" sz="2200" dirty="0">
                <a:solidFill>
                  <a:schemeClr val="tx1"/>
                </a:solidFill>
                <a:latin typeface="Arial" pitchFamily="34" charset="0"/>
                <a:ea typeface="Arial" pitchFamily="34" charset="-122"/>
                <a:cs typeface="Arial" pitchFamily="34" charset="-120"/>
              </a:rPr>
              <a:t>Retrieval hands a frozen model an open book</a:t>
            </a:r>
            <a:endParaRPr lang="en-US" sz="2200" dirty="0"/>
          </a:p>
          <a:p>
            <a:pPr marL="685800" lvl="1" indent="-342900">
              <a:spcAft>
                <a:spcPts val="400"/>
              </a:spcAft>
              <a:buSzPct val="100000"/>
              <a:buChar char="•"/>
            </a:pPr>
            <a:r>
              <a:rPr lang="en-US" sz="1800" dirty="0">
                <a:solidFill>
                  <a:schemeClr val="tx1"/>
                </a:solidFill>
                <a:latin typeface="Arial" pitchFamily="34" charset="0"/>
                <a:ea typeface="Arial" pitchFamily="34" charset="-122"/>
                <a:cs typeface="Arial" pitchFamily="34" charset="-120"/>
              </a:rPr>
              <a:t>Documents stay readable, outside the model</a:t>
            </a:r>
            <a:endParaRPr lang="en-US" sz="2200" dirty="0"/>
          </a:p>
          <a:p>
            <a:pPr marL="342900" indent="-342900">
              <a:spcBef>
                <a:spcPts val="600"/>
              </a:spcBef>
              <a:spcAft>
                <a:spcPts val="800"/>
              </a:spcAft>
              <a:buSzPct val="100000"/>
              <a:buChar char="•"/>
            </a:pPr>
            <a:r>
              <a:rPr lang="en-US" sz="2200" dirty="0">
                <a:solidFill>
                  <a:schemeClr val="tx1"/>
                </a:solidFill>
                <a:latin typeface="Arial" pitchFamily="34" charset="0"/>
                <a:ea typeface="Arial" pitchFamily="34" charset="-122"/>
                <a:cs typeface="Arial" pitchFamily="34" charset="-120"/>
              </a:rPr>
              <a:t>Only retrieval can show what it used</a:t>
            </a:r>
            <a:endParaRPr lang="en-US" sz="2200" dirty="0"/>
          </a:p>
        </p:txBody>
      </p:sp>
      <p:sp>
        <p:nvSpPr>
          <p:cNvPr id="25" name="Slide Number Placeholder 0"/>
          <p:cNvSpPr>
            <a:spLocks noGrp="1"/>
          </p:cNvSpPr>
          <p:nvPr>
            <p:ph type="sldNum" idx="12"/>
          </p:nvPr>
        </p:nvSpPr>
        <p:spPr>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4"/>
                </a:solidFill>
                <a:latin typeface="Arial"/>
                <a:ea typeface="Arial"/>
                <a:cs typeface="Aria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srgbClr val="8C8C8C"/>
                </a:solidFill>
                <a:effectLst/>
                <a:uLnTx/>
                <a:uFillTx/>
                <a:latin typeface="Arial"/>
                <a:cs typeface="Arial"/>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srgbClr val="8C8C8C"/>
              </a:solidFill>
              <a:effectLst/>
              <a:uLnTx/>
              <a:uFillTx/>
              <a:latin typeface="Arial"/>
              <a:cs typeface="Arial"/>
            </a:endParaRPr>
          </a:p>
        </p:txBody>
      </p:sp>
      <p:graphicFrame>
        <p:nvGraphicFramePr>
          <p:cNvPr id="4" name="Comparison table"/>
          <p:cNvGraphicFramePr>
            <a:graphicFrameLocks noGrp="1"/>
          </p:cNvGraphicFramePr>
          <p:nvPr/>
        </p:nvGraphicFramePr>
        <p:xfrm>
          <a:off x="6583680" y="1645920"/>
          <a:ext cx="4937760" cy="3639312"/>
        </p:xfrm>
        <a:graphic>
          <a:graphicData uri="http://schemas.openxmlformats.org/drawingml/2006/table">
            <a:tbl>
              <a:tblPr/>
              <a:tblGrid>
                <a:gridCol w="14173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874520">
                  <a:extLst>
                    <a:ext uri="{9D8B030D-6E8A-4147-A177-3AD203B41FA5}">
                      <a16:colId xmlns:a16="http://schemas.microsoft.com/office/drawing/2014/main" val="20002"/>
                    </a:ext>
                  </a:extLst>
                </a:gridCol>
              </a:tblGrid>
              <a:tr h="457200">
                <a:tc>
                  <a:txBody>
                    <a:bodyPr/>
                    <a:lstStyle/>
                    <a:p>
                      <a:pPr marL="0" indent="0">
                        <a:buNone/>
                      </a:pPr>
                      <a:endParaRPr lang="en-US" sz="1300" dirty="0">
                        <a:latin typeface="Arial" charset="0"/>
                        <a:ea typeface="Arial" charset="0"/>
                        <a:cs typeface="Arial" charset="0"/>
                      </a:endParaRPr>
                    </a:p>
                  </a:txBody>
                  <a:tcPr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300" b="1" dirty="0">
                          <a:solidFill>
                            <a:schemeClr val="bg1"/>
                          </a:solidFill>
                          <a:latin typeface="Arial" pitchFamily="34" charset="0"/>
                          <a:ea typeface="Arial" pitchFamily="34" charset="-122"/>
                          <a:cs typeface="Arial" pitchFamily="34" charset="-120"/>
                        </a:rPr>
                        <a:t>Fine-tuning</a:t>
                      </a:r>
                      <a:endParaRPr lang="en-US" sz="1300" dirty="0">
                        <a:latin typeface="Arial" charset="0"/>
                        <a:ea typeface="Arial" charset="0"/>
                        <a:cs typeface="Arial" charset="0"/>
                      </a:endParaRPr>
                    </a:p>
                  </a:txBody>
                  <a:tcPr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3"/>
                    </a:solidFill>
                  </a:tcPr>
                </a:tc>
                <a:tc>
                  <a:txBody>
                    <a:bodyPr/>
                    <a:lstStyle/>
                    <a:p>
                      <a:pPr marL="0" indent="0" algn="ctr">
                        <a:buNone/>
                      </a:pPr>
                      <a:r>
                        <a:rPr lang="en-US" sz="1300" b="1" dirty="0">
                          <a:solidFill>
                            <a:schemeClr val="bg1"/>
                          </a:solidFill>
                          <a:latin typeface="Arial" pitchFamily="34" charset="0"/>
                          <a:ea typeface="Arial" pitchFamily="34" charset="-122"/>
                          <a:cs typeface="Arial" pitchFamily="34" charset="-120"/>
                        </a:rPr>
                        <a:t>Retrieval (ours)</a:t>
                      </a:r>
                      <a:endParaRPr lang="en-US" sz="1300" dirty="0">
                        <a:latin typeface="Arial" charset="0"/>
                        <a:ea typeface="Arial" charset="0"/>
                        <a:cs typeface="Arial" charset="0"/>
                      </a:endParaRPr>
                    </a:p>
                  </a:txBody>
                  <a:tcPr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530352">
                <a:tc>
                  <a:txBody>
                    <a:bodyPr/>
                    <a:lstStyle/>
                    <a:p>
                      <a:pPr marL="0" indent="0">
                        <a:buNone/>
                      </a:pPr>
                      <a:r>
                        <a:rPr lang="en-US" sz="1300" b="1" dirty="0">
                          <a:solidFill>
                            <a:schemeClr val="tx1"/>
                          </a:solidFill>
                          <a:latin typeface="Arial" pitchFamily="34" charset="0"/>
                          <a:ea typeface="Arial" pitchFamily="34" charset="-122"/>
                          <a:cs typeface="Arial" pitchFamily="34" charset="-120"/>
                        </a:rPr>
                        <a:t>Knowledge lives in</a:t>
                      </a:r>
                      <a:endParaRPr lang="en-US" sz="1300" dirty="0">
                        <a:latin typeface="Arial" charset="0"/>
                        <a:ea typeface="Arial" charset="0"/>
                        <a:cs typeface="Arial" charset="0"/>
                      </a:endParaRPr>
                    </a:p>
                  </a:txBody>
                  <a:tcPr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chemeClr val="tx2"/>
                          </a:solidFill>
                          <a:latin typeface="Arial" pitchFamily="34" charset="0"/>
                          <a:ea typeface="Arial" pitchFamily="34" charset="-122"/>
                          <a:cs typeface="Arial" pitchFamily="34" charset="-120"/>
                        </a:rPr>
                        <a:t>Model weights</a:t>
                      </a:r>
                      <a:endParaRPr lang="en-US" sz="1300" dirty="0">
                        <a:latin typeface="Arial" charset="0"/>
                        <a:ea typeface="Arial" charset="0"/>
                        <a:cs typeface="Arial" charset="0"/>
                      </a:endParaRPr>
                    </a:p>
                  </a:txBody>
                  <a:tcPr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chemeClr val="tx1"/>
                          </a:solidFill>
                          <a:latin typeface="Arial" pitchFamily="34" charset="0"/>
                          <a:ea typeface="Arial" pitchFamily="34" charset="-122"/>
                          <a:cs typeface="Arial" pitchFamily="34" charset="-120"/>
                        </a:rPr>
                        <a:t>Readable documents</a:t>
                      </a:r>
                      <a:endParaRPr lang="en-US" sz="1300" dirty="0">
                        <a:latin typeface="Arial" charset="0"/>
                        <a:ea typeface="Arial" charset="0"/>
                        <a:cs typeface="Arial" charset="0"/>
                      </a:endParaRPr>
                    </a:p>
                  </a:txBody>
                  <a:tcPr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530352">
                <a:tc>
                  <a:txBody>
                    <a:bodyPr/>
                    <a:lstStyle/>
                    <a:p>
                      <a:pPr marL="0" indent="0">
                        <a:buNone/>
                      </a:pPr>
                      <a:r>
                        <a:rPr lang="en-US" sz="1300" b="1" dirty="0">
                          <a:solidFill>
                            <a:schemeClr val="tx1"/>
                          </a:solidFill>
                          <a:latin typeface="Arial" pitchFamily="34" charset="0"/>
                          <a:ea typeface="Arial" pitchFamily="34" charset="-122"/>
                          <a:cs typeface="Arial" pitchFamily="34" charset="-120"/>
                        </a:rPr>
                        <a:t>The model</a:t>
                      </a:r>
                      <a:endParaRPr lang="en-US" sz="1300" dirty="0">
                        <a:latin typeface="Arial" charset="0"/>
                        <a:ea typeface="Arial" charset="0"/>
                        <a:cs typeface="Arial" charset="0"/>
                      </a:endParaRPr>
                    </a:p>
                  </a:txBody>
                  <a:tcPr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chemeClr val="tx2"/>
                          </a:solidFill>
                          <a:latin typeface="Arial" pitchFamily="34" charset="0"/>
                          <a:ea typeface="Arial" pitchFamily="34" charset="-122"/>
                          <a:cs typeface="Arial" pitchFamily="34" charset="-120"/>
                        </a:rPr>
                        <a:t>Changed by training</a:t>
                      </a:r>
                      <a:endParaRPr lang="en-US" sz="1300" dirty="0">
                        <a:latin typeface="Arial" charset="0"/>
                        <a:ea typeface="Arial" charset="0"/>
                        <a:cs typeface="Arial" charset="0"/>
                      </a:endParaRPr>
                    </a:p>
                  </a:txBody>
                  <a:tcPr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chemeClr val="tx1"/>
                          </a:solidFill>
                          <a:latin typeface="Arial" pitchFamily="34" charset="0"/>
                          <a:ea typeface="Arial" pitchFamily="34" charset="-122"/>
                          <a:cs typeface="Arial" pitchFamily="34" charset="-120"/>
                        </a:rPr>
                        <a:t>Frozen, never changed</a:t>
                      </a:r>
                      <a:endParaRPr lang="en-US" sz="1300" dirty="0">
                        <a:latin typeface="Arial" charset="0"/>
                        <a:ea typeface="Arial" charset="0"/>
                        <a:cs typeface="Arial" charset="0"/>
                      </a:endParaRPr>
                    </a:p>
                  </a:txBody>
                  <a:tcPr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530352">
                <a:tc>
                  <a:txBody>
                    <a:bodyPr/>
                    <a:lstStyle/>
                    <a:p>
                      <a:pPr marL="0" indent="0">
                        <a:buNone/>
                      </a:pPr>
                      <a:r>
                        <a:rPr lang="en-US" sz="1300" b="1" dirty="0">
                          <a:solidFill>
                            <a:schemeClr val="tx1"/>
                          </a:solidFill>
                          <a:latin typeface="Arial" pitchFamily="34" charset="0"/>
                          <a:ea typeface="Arial" pitchFamily="34" charset="-122"/>
                          <a:cs typeface="Arial" pitchFamily="34" charset="-120"/>
                        </a:rPr>
                        <a:t>Cites its sources</a:t>
                      </a:r>
                      <a:endParaRPr lang="en-US" sz="1300" dirty="0">
                        <a:latin typeface="Arial" charset="0"/>
                        <a:ea typeface="Arial" charset="0"/>
                        <a:cs typeface="Arial" charset="0"/>
                      </a:endParaRPr>
                    </a:p>
                  </a:txBody>
                  <a:tcPr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chemeClr val="tx2"/>
                          </a:solidFill>
                          <a:latin typeface="Arial" pitchFamily="34" charset="0"/>
                          <a:ea typeface="Arial" pitchFamily="34" charset="-122"/>
                          <a:cs typeface="Arial" pitchFamily="34" charset="-120"/>
                        </a:rPr>
                        <a:t>No</a:t>
                      </a:r>
                      <a:endParaRPr lang="en-US" sz="1300" dirty="0">
                        <a:latin typeface="Arial" charset="0"/>
                        <a:ea typeface="Arial" charset="0"/>
                        <a:cs typeface="Arial" charset="0"/>
                      </a:endParaRPr>
                    </a:p>
                  </a:txBody>
                  <a:tcPr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chemeClr val="tx1"/>
                          </a:solidFill>
                          <a:latin typeface="Arial" pitchFamily="34" charset="0"/>
                          <a:ea typeface="Arial" pitchFamily="34" charset="-122"/>
                          <a:cs typeface="Arial" pitchFamily="34" charset="-120"/>
                        </a:rPr>
                        <a:t>Yes, every claim</a:t>
                      </a:r>
                      <a:endParaRPr lang="en-US" sz="1300" dirty="0">
                        <a:latin typeface="Arial" charset="0"/>
                        <a:ea typeface="Arial" charset="0"/>
                        <a:cs typeface="Arial" charset="0"/>
                      </a:endParaRPr>
                    </a:p>
                  </a:txBody>
                  <a:tcPr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530352">
                <a:tc>
                  <a:txBody>
                    <a:bodyPr/>
                    <a:lstStyle/>
                    <a:p>
                      <a:pPr marL="0" indent="0">
                        <a:buNone/>
                      </a:pPr>
                      <a:r>
                        <a:rPr lang="en-US" sz="1300" b="1" dirty="0">
                          <a:solidFill>
                            <a:schemeClr val="tx1"/>
                          </a:solidFill>
                          <a:latin typeface="Arial" pitchFamily="34" charset="0"/>
                          <a:ea typeface="Arial" pitchFamily="34" charset="-122"/>
                          <a:cs typeface="Arial" pitchFamily="34" charset="-120"/>
                        </a:rPr>
                        <a:t>Add a document</a:t>
                      </a:r>
                      <a:endParaRPr lang="en-US" sz="1300" dirty="0">
                        <a:latin typeface="Arial" charset="0"/>
                        <a:ea typeface="Arial" charset="0"/>
                        <a:cs typeface="Arial" charset="0"/>
                      </a:endParaRPr>
                    </a:p>
                  </a:txBody>
                  <a:tcPr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chemeClr val="tx2"/>
                          </a:solidFill>
                          <a:latin typeface="Arial" pitchFamily="34" charset="0"/>
                          <a:ea typeface="Arial" pitchFamily="34" charset="-122"/>
                          <a:cs typeface="Arial" pitchFamily="34" charset="-120"/>
                        </a:rPr>
                        <a:t>Retrain and revalidate</a:t>
                      </a:r>
                      <a:endParaRPr lang="en-US" sz="1300" dirty="0">
                        <a:latin typeface="Arial" charset="0"/>
                        <a:ea typeface="Arial" charset="0"/>
                        <a:cs typeface="Arial" charset="0"/>
                      </a:endParaRPr>
                    </a:p>
                  </a:txBody>
                  <a:tcPr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chemeClr val="tx1"/>
                          </a:solidFill>
                          <a:latin typeface="Arial" pitchFamily="34" charset="0"/>
                          <a:ea typeface="Arial" pitchFamily="34" charset="-122"/>
                          <a:cs typeface="Arial" pitchFamily="34" charset="-120"/>
                        </a:rPr>
                        <a:t>Add chunks, new snapshot</a:t>
                      </a:r>
                      <a:endParaRPr lang="en-US" sz="1300" dirty="0">
                        <a:latin typeface="Arial" charset="0"/>
                        <a:ea typeface="Arial" charset="0"/>
                        <a:cs typeface="Arial" charset="0"/>
                      </a:endParaRPr>
                    </a:p>
                  </a:txBody>
                  <a:tcPr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530352">
                <a:tc>
                  <a:txBody>
                    <a:bodyPr/>
                    <a:lstStyle/>
                    <a:p>
                      <a:pPr marL="0" indent="0">
                        <a:buNone/>
                      </a:pPr>
                      <a:r>
                        <a:rPr lang="en-US" sz="1300" b="1" dirty="0">
                          <a:solidFill>
                            <a:schemeClr val="tx1"/>
                          </a:solidFill>
                          <a:latin typeface="Arial" pitchFamily="34" charset="0"/>
                          <a:ea typeface="Arial" pitchFamily="34" charset="-122"/>
                          <a:cs typeface="Arial" pitchFamily="34" charset="-120"/>
                        </a:rPr>
                        <a:t>Remove a document</a:t>
                      </a:r>
                      <a:endParaRPr lang="en-US" sz="1300" dirty="0">
                        <a:latin typeface="Arial" charset="0"/>
                        <a:ea typeface="Arial" charset="0"/>
                        <a:cs typeface="Arial" charset="0"/>
                      </a:endParaRPr>
                    </a:p>
                  </a:txBody>
                  <a:tcPr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chemeClr val="tx2"/>
                          </a:solidFill>
                          <a:latin typeface="Arial" pitchFamily="34" charset="0"/>
                          <a:ea typeface="Arial" pitchFamily="34" charset="-122"/>
                          <a:cs typeface="Arial" pitchFamily="34" charset="-120"/>
                        </a:rPr>
                        <a:t>No clean way</a:t>
                      </a:r>
                      <a:endParaRPr lang="en-US" sz="1300" dirty="0">
                        <a:latin typeface="Arial" charset="0"/>
                        <a:ea typeface="Arial" charset="0"/>
                        <a:cs typeface="Arial" charset="0"/>
                      </a:endParaRPr>
                    </a:p>
                  </a:txBody>
                  <a:tcPr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chemeClr val="tx1"/>
                          </a:solidFill>
                          <a:latin typeface="Arial" pitchFamily="34" charset="0"/>
                          <a:ea typeface="Arial" pitchFamily="34" charset="-122"/>
                          <a:cs typeface="Arial" pitchFamily="34" charset="-120"/>
                        </a:rPr>
                        <a:t>Delete its chunks</a:t>
                      </a:r>
                      <a:endParaRPr lang="en-US" sz="1300" dirty="0">
                        <a:latin typeface="Arial" charset="0"/>
                        <a:ea typeface="Arial" charset="0"/>
                        <a:cs typeface="Arial" charset="0"/>
                      </a:endParaRPr>
                    </a:p>
                  </a:txBody>
                  <a:tcPr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5"/>
                  </a:ext>
                </a:extLst>
              </a:tr>
              <a:tr h="530352">
                <a:tc>
                  <a:txBody>
                    <a:bodyPr/>
                    <a:lstStyle/>
                    <a:p>
                      <a:pPr marL="0" indent="0">
                        <a:buNone/>
                      </a:pPr>
                      <a:r>
                        <a:rPr lang="en-US" sz="1300" b="1" dirty="0">
                          <a:solidFill>
                            <a:schemeClr val="tx1"/>
                          </a:solidFill>
                          <a:latin typeface="Arial" pitchFamily="34" charset="0"/>
                          <a:ea typeface="Arial" pitchFamily="34" charset="-122"/>
                          <a:cs typeface="Arial" pitchFamily="34" charset="-120"/>
                        </a:rPr>
                        <a:t>Audit in 20 years</a:t>
                      </a:r>
                      <a:endParaRPr lang="en-US" sz="1300" dirty="0">
                        <a:latin typeface="Arial" charset="0"/>
                        <a:ea typeface="Arial" charset="0"/>
                        <a:cs typeface="Arial" charset="0"/>
                      </a:endParaRPr>
                    </a:p>
                  </a:txBody>
                  <a:tcPr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chemeClr val="tx2"/>
                          </a:solidFill>
                          <a:latin typeface="Arial" pitchFamily="34" charset="0"/>
                          <a:ea typeface="Arial" pitchFamily="34" charset="-122"/>
                          <a:cs typeface="Arial" pitchFamily="34" charset="-120"/>
                        </a:rPr>
                        <a:t>Inspect billions of numbers</a:t>
                      </a:r>
                      <a:endParaRPr lang="en-US" sz="1300" dirty="0">
                        <a:latin typeface="Arial" charset="0"/>
                        <a:ea typeface="Arial" charset="0"/>
                        <a:cs typeface="Arial" charset="0"/>
                      </a:endParaRPr>
                    </a:p>
                  </a:txBody>
                  <a:tcPr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chemeClr val="tx1"/>
                          </a:solidFill>
                          <a:latin typeface="Arial" pitchFamily="34" charset="0"/>
                          <a:ea typeface="Arial" pitchFamily="34" charset="-122"/>
                          <a:cs typeface="Arial" pitchFamily="34" charset="-120"/>
                        </a:rPr>
                        <a:t>Read the source text</a:t>
                      </a:r>
                      <a:endParaRPr lang="en-US" sz="1300" dirty="0">
                        <a:latin typeface="Arial" charset="0"/>
                        <a:ea typeface="Arial" charset="0"/>
                        <a:cs typeface="Arial" charset="0"/>
                      </a:endParaRPr>
                    </a:p>
                  </a:txBody>
                  <a:tcPr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txBox="1"/>
          <p:nvPr/>
        </p:nvSpPr>
        <p:spPr>
          <a:xfrm>
            <a:off x="6583680" y="5486400"/>
            <a:ext cx="4937760" cy="548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404040"/>
                </a:solidFill>
                <a:effectLst/>
                <a:uLnTx/>
                <a:uFillTx/>
                <a:latin typeface="Arial" pitchFamily="34" charset="0"/>
                <a:ea typeface="Arial" pitchFamily="34" charset="-122"/>
                <a:cs typeface="Arial" pitchFamily="34" charset="-120"/>
              </a:rPr>
              <a:t>Fine-tuning still helps with domain vocabulary and output style. The facts come from retrieval.</a:t>
            </a:r>
            <a:endParaRPr kumimoji="0" lang="en-US" sz="1300" b="0" i="0" u="none" strike="noStrike" kern="1200" cap="none" spc="0" normalizeH="0" baseline="0" noProof="0" dirty="0">
              <a:ln>
                <a:noFill/>
              </a:ln>
              <a:solidFill>
                <a:srgbClr val="000000"/>
              </a:solidFill>
              <a:effectLst/>
              <a:uLnTx/>
              <a:uFillTx/>
              <a:latin typeface="Arial"/>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prstGeom prst="rect">
            <a:avLst/>
          </a:prstGeom>
          <a:noFill/>
          <a:ln/>
        </p:spPr>
        <p:txBody>
          <a:bodyPr wrap="square" lIns="0" tIns="0" rIns="0" bIns="0" rtlCol="0" anchor="ctr"/>
          <a:lstStyle/>
          <a:p>
            <a:pPr marL="0" indent="0" algn="l">
              <a:buNone/>
            </a:pPr>
            <a:r>
              <a:rPr lang="en-US" sz="3600" dirty="0">
                <a:solidFill>
                  <a:schemeClr val="tx1"/>
                </a:solidFill>
                <a:latin typeface="Arial Black" pitchFamily="34" charset="0"/>
                <a:ea typeface="Arial Black" pitchFamily="34" charset="-122"/>
                <a:cs typeface="Arial Black" pitchFamily="34" charset="-120"/>
              </a:rPr>
              <a:t>Scientific Merit and Publication</a:t>
            </a:r>
            <a:endParaRPr lang="en-US" sz="3600" dirty="0"/>
          </a:p>
        </p:txBody>
      </p:sp>
      <p:sp>
        <p:nvSpPr>
          <p:cNvPr id="3" name="Text 2"/>
          <p:cNvSpPr>
            <a:spLocks noGrp="1"/>
          </p:cNvSpPr>
          <p:nvPr>
            <p:ph type="body" idx="1"/>
          </p:nvPr>
        </p:nvSpPr>
        <p:spPr>
          <a:prstGeom prst="rect">
            <a:avLst/>
          </a:prstGeom>
          <a:noFill/>
          <a:ln/>
        </p:spPr>
        <p:txBody>
          <a:bodyPr wrap="square" rtlCol="0" anchor="t">
            <a:normAutofit fontScale="92500" lnSpcReduction="10000"/>
          </a:bodyPr>
          <a:lstStyle/>
          <a:p>
            <a:pPr marL="342900" indent="-342900">
              <a:spcAft>
                <a:spcPts val="800"/>
              </a:spcAft>
              <a:buSzPct val="100000"/>
              <a:buChar char="•"/>
            </a:pPr>
            <a:r>
              <a:rPr lang="en-US" sz="2200" dirty="0">
                <a:solidFill>
                  <a:schemeClr val="tx1"/>
                </a:solidFill>
                <a:latin typeface="Arial" pitchFamily="34" charset="0"/>
                <a:ea typeface="Arial" pitchFamily="34" charset="-122"/>
                <a:cs typeface="Arial" pitchFamily="34" charset="-120"/>
              </a:rPr>
              <a:t>Contribution: a retrieval agent designed for high trust</a:t>
            </a:r>
            <a:endParaRPr lang="en-US" sz="2200" dirty="0"/>
          </a:p>
          <a:p>
            <a:pPr marL="342900" indent="-342900">
              <a:spcBef>
                <a:spcPts val="600"/>
              </a:spcBef>
              <a:spcAft>
                <a:spcPts val="800"/>
              </a:spcAft>
              <a:buSzPct val="100000"/>
              <a:buChar char="•"/>
            </a:pPr>
            <a:r>
              <a:rPr lang="en-US" sz="2200" dirty="0">
                <a:solidFill>
                  <a:schemeClr val="tx1"/>
                </a:solidFill>
                <a:latin typeface="Arial" pitchFamily="34" charset="0"/>
                <a:ea typeface="Arial" pitchFamily="34" charset="-122"/>
                <a:cs typeface="Arial" pitchFamily="34" charset="-120"/>
              </a:rPr>
              <a:t>Faithful scientific ingestion</a:t>
            </a:r>
            <a:endParaRPr lang="en-US" sz="2200" dirty="0"/>
          </a:p>
          <a:p>
            <a:pPr marL="685800" lvl="1" indent="-342900">
              <a:spcAft>
                <a:spcPts val="400"/>
              </a:spcAft>
              <a:buSzPct val="100000"/>
              <a:buChar char="•"/>
            </a:pPr>
            <a:r>
              <a:rPr lang="en-US" sz="1800" dirty="0">
                <a:solidFill>
                  <a:schemeClr val="tx1"/>
                </a:solidFill>
                <a:latin typeface="Arial" pitchFamily="34" charset="0"/>
                <a:ea typeface="Arial" pitchFamily="34" charset="-122"/>
                <a:cs typeface="Arial" pitchFamily="34" charset="-120"/>
              </a:rPr>
              <a:t>Papers to Marker, other documents to Docling</a:t>
            </a:r>
            <a:endParaRPr lang="en-US" sz="2200" dirty="0"/>
          </a:p>
          <a:p>
            <a:pPr marL="342900" indent="-342900">
              <a:spcBef>
                <a:spcPts val="600"/>
              </a:spcBef>
              <a:spcAft>
                <a:spcPts val="800"/>
              </a:spcAft>
              <a:buSzPct val="100000"/>
              <a:buChar char="•"/>
            </a:pPr>
            <a:r>
              <a:rPr lang="en-US" sz="2200" dirty="0">
                <a:solidFill>
                  <a:schemeClr val="tx1"/>
                </a:solidFill>
                <a:latin typeface="Arial" pitchFamily="34" charset="0"/>
                <a:ea typeface="Arial" pitchFamily="34" charset="-122"/>
                <a:cs typeface="Arial" pitchFamily="34" charset="-120"/>
              </a:rPr>
              <a:t>Provenance as the design target</a:t>
            </a:r>
            <a:endParaRPr lang="en-US" sz="2200" dirty="0"/>
          </a:p>
          <a:p>
            <a:pPr marL="685800" lvl="1" indent="-342900">
              <a:spcAft>
                <a:spcPts val="400"/>
              </a:spcAft>
              <a:buSzPct val="100000"/>
              <a:buChar char="•"/>
            </a:pPr>
            <a:r>
              <a:rPr lang="en-US" sz="1800" dirty="0">
                <a:solidFill>
                  <a:schemeClr val="tx1"/>
                </a:solidFill>
                <a:latin typeface="Arial" pitchFamily="34" charset="0"/>
                <a:ea typeface="Arial" pitchFamily="34" charset="-122"/>
                <a:cs typeface="Arial" pitchFamily="34" charset="-120"/>
              </a:rPr>
              <a:t>Every claim traces to a stored chunk</a:t>
            </a:r>
            <a:endParaRPr lang="en-US" sz="2200" dirty="0"/>
          </a:p>
          <a:p>
            <a:pPr marL="342900" indent="-342900">
              <a:spcBef>
                <a:spcPts val="600"/>
              </a:spcBef>
              <a:spcAft>
                <a:spcPts val="800"/>
              </a:spcAft>
              <a:buSzPct val="100000"/>
              <a:buChar char="•"/>
            </a:pPr>
            <a:r>
              <a:rPr lang="en-US" sz="2200" dirty="0">
                <a:solidFill>
                  <a:schemeClr val="tx1"/>
                </a:solidFill>
                <a:latin typeface="Arial" pitchFamily="34" charset="0"/>
                <a:ea typeface="Arial" pitchFamily="34" charset="-122"/>
                <a:cs typeface="Arial" pitchFamily="34" charset="-120"/>
              </a:rPr>
              <a:t>Frozen, offline, and edge-deployable</a:t>
            </a:r>
            <a:endParaRPr lang="en-US" sz="2200" dirty="0"/>
          </a:p>
          <a:p>
            <a:pPr marL="342900" indent="-342900">
              <a:spcBef>
                <a:spcPts val="600"/>
              </a:spcBef>
              <a:spcAft>
                <a:spcPts val="800"/>
              </a:spcAft>
              <a:buSzPct val="100000"/>
              <a:buChar char="•"/>
            </a:pPr>
            <a:r>
              <a:rPr lang="en-US" sz="2200" dirty="0">
                <a:solidFill>
                  <a:schemeClr val="tx1"/>
                </a:solidFill>
                <a:latin typeface="Arial" pitchFamily="34" charset="0"/>
                <a:ea typeface="Arial" pitchFamily="34" charset="-122"/>
                <a:cs typeface="Arial" pitchFamily="34" charset="-120"/>
              </a:rPr>
              <a:t>A trusted assistant for deployable digital twins</a:t>
            </a:r>
            <a:endParaRPr lang="en-US" sz="2200" dirty="0"/>
          </a:p>
        </p:txBody>
      </p:sp>
      <p:sp>
        <p:nvSpPr>
          <p:cNvPr id="25" name="Slide Number Placeholder 0"/>
          <p:cNvSpPr>
            <a:spLocks noGrp="1"/>
          </p:cNvSpPr>
          <p:nvPr>
            <p:ph type="sldNum" idx="12"/>
          </p:nvPr>
        </p:nvSpPr>
        <p:spPr>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4"/>
                </a:solidFill>
                <a:latin typeface="Arial"/>
                <a:ea typeface="Arial"/>
                <a:cs typeface="Aria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srgbClr val="8C8C8C"/>
                </a:solidFill>
                <a:effectLst/>
                <a:uLnTx/>
                <a:uFillTx/>
                <a:latin typeface="Arial"/>
                <a:cs typeface="Arial"/>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srgbClr val="8C8C8C"/>
              </a:solidFill>
              <a:effectLst/>
              <a:uLnTx/>
              <a:uFillTx/>
              <a:latin typeface="Arial"/>
              <a:cs typeface="Arial"/>
            </a:endParaRPr>
          </a:p>
        </p:txBody>
      </p:sp>
      <p:pic>
        <p:nvPicPr>
          <p:cNvPr id="27" name="Picture 26">
            <a:extLst>
              <a:ext uri="{FF2B5EF4-FFF2-40B4-BE49-F238E27FC236}">
                <a16:creationId xmlns:a16="http://schemas.microsoft.com/office/drawing/2014/main" id="{4F075F98-2845-4E4F-84FC-A606AC522597}"/>
              </a:ext>
            </a:extLst>
          </p:cNvPr>
          <p:cNvPicPr>
            <a:picLocks noChangeAspect="1"/>
          </p:cNvPicPr>
          <p:nvPr/>
        </p:nvPicPr>
        <p:blipFill>
          <a:blip r:embed="rId3"/>
          <a:stretch>
            <a:fillRect/>
          </a:stretch>
        </p:blipFill>
        <p:spPr>
          <a:xfrm>
            <a:off x="6314535" y="1912097"/>
            <a:ext cx="5520907" cy="365909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9D957-399B-8555-8CEB-6D0C4F4E6C00}"/>
              </a:ext>
            </a:extLst>
          </p:cNvPr>
          <p:cNvSpPr>
            <a:spLocks noGrp="1"/>
          </p:cNvSpPr>
          <p:nvPr>
            <p:ph type="title"/>
          </p:nvPr>
        </p:nvSpPr>
        <p:spPr/>
        <p:txBody>
          <a:bodyPr/>
          <a:lstStyle/>
          <a:p>
            <a:r>
              <a:rPr lang="en-US" dirty="0"/>
              <a:t>Other Applications</a:t>
            </a:r>
          </a:p>
        </p:txBody>
      </p:sp>
      <p:sp>
        <p:nvSpPr>
          <p:cNvPr id="3" name="Text Placeholder 2">
            <a:extLst>
              <a:ext uri="{FF2B5EF4-FFF2-40B4-BE49-F238E27FC236}">
                <a16:creationId xmlns:a16="http://schemas.microsoft.com/office/drawing/2014/main" id="{F2C45F6D-FA46-4C4C-BA40-8F4B07D1CA76}"/>
              </a:ext>
            </a:extLst>
          </p:cNvPr>
          <p:cNvSpPr>
            <a:spLocks noGrp="1"/>
          </p:cNvSpPr>
          <p:nvPr>
            <p:ph type="body" idx="1"/>
          </p:nvPr>
        </p:nvSpPr>
        <p:spPr/>
        <p:txBody>
          <a:bodyPr/>
          <a:lstStyle/>
          <a:p>
            <a:r>
              <a:rPr lang="en-US" dirty="0"/>
              <a:t>Due to tool use, agent can be used to control systems</a:t>
            </a:r>
          </a:p>
          <a:p>
            <a:pPr lvl="1"/>
            <a:r>
              <a:rPr lang="en-US" dirty="0"/>
              <a:t>Such as digital twins</a:t>
            </a:r>
          </a:p>
          <a:p>
            <a:pPr lvl="1"/>
            <a:r>
              <a:rPr lang="en-US" dirty="0"/>
              <a:t>Knowledge-based decision making</a:t>
            </a:r>
          </a:p>
          <a:p>
            <a:pPr lvl="1"/>
            <a:r>
              <a:rPr lang="en-US" dirty="0"/>
              <a:t>Runs in an agent loop</a:t>
            </a:r>
          </a:p>
        </p:txBody>
      </p:sp>
      <p:sp>
        <p:nvSpPr>
          <p:cNvPr id="4" name="Slide Number Placeholder 3">
            <a:extLst>
              <a:ext uri="{FF2B5EF4-FFF2-40B4-BE49-F238E27FC236}">
                <a16:creationId xmlns:a16="http://schemas.microsoft.com/office/drawing/2014/main" id="{4A2B8DE5-5A3C-6925-2791-ED25869AB424}"/>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19</a:t>
            </a:fld>
            <a:endParaRPr lang="en-US"/>
          </a:p>
        </p:txBody>
      </p:sp>
      <p:pic>
        <p:nvPicPr>
          <p:cNvPr id="5" name="Picture 4">
            <a:extLst>
              <a:ext uri="{FF2B5EF4-FFF2-40B4-BE49-F238E27FC236}">
                <a16:creationId xmlns:a16="http://schemas.microsoft.com/office/drawing/2014/main" id="{4A87CD00-91C9-22DE-8BE6-EF0DA3A2193B}"/>
              </a:ext>
            </a:extLst>
          </p:cNvPr>
          <p:cNvPicPr>
            <a:picLocks noChangeAspect="1"/>
          </p:cNvPicPr>
          <p:nvPr/>
        </p:nvPicPr>
        <p:blipFill>
          <a:blip r:embed="rId2"/>
          <a:stretch>
            <a:fillRect/>
          </a:stretch>
        </p:blipFill>
        <p:spPr>
          <a:xfrm>
            <a:off x="6311279" y="2394462"/>
            <a:ext cx="5349842" cy="2906086"/>
          </a:xfrm>
          <a:prstGeom prst="rect">
            <a:avLst/>
          </a:prstGeom>
        </p:spPr>
      </p:pic>
    </p:spTree>
    <p:extLst>
      <p:ext uri="{BB962C8B-B14F-4D97-AF65-F5344CB8AC3E}">
        <p14:creationId xmlns:p14="http://schemas.microsoft.com/office/powerpoint/2010/main" val="16383218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7068C-439A-4693-040F-CAC246B6F413}"/>
              </a:ext>
            </a:extLst>
          </p:cNvPr>
          <p:cNvSpPr>
            <a:spLocks noGrp="1"/>
          </p:cNvSpPr>
          <p:nvPr>
            <p:ph type="title"/>
          </p:nvPr>
        </p:nvSpPr>
        <p:spPr/>
        <p:txBody>
          <a:bodyPr/>
          <a:lstStyle/>
          <a:p>
            <a:r>
              <a:rPr lang="en-US" dirty="0"/>
              <a:t>Pipeline</a:t>
            </a:r>
          </a:p>
        </p:txBody>
      </p:sp>
      <p:sp>
        <p:nvSpPr>
          <p:cNvPr id="4" name="Slide Number Placeholder 3">
            <a:extLst>
              <a:ext uri="{FF2B5EF4-FFF2-40B4-BE49-F238E27FC236}">
                <a16:creationId xmlns:a16="http://schemas.microsoft.com/office/drawing/2014/main" id="{EB06D5C5-6CB9-9238-EB93-04A047E526D7}"/>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20</a:t>
            </a:fld>
            <a:endParaRPr lang="en-US"/>
          </a:p>
        </p:txBody>
      </p:sp>
      <p:pic>
        <p:nvPicPr>
          <p:cNvPr id="5" name="Picture 4">
            <a:extLst>
              <a:ext uri="{FF2B5EF4-FFF2-40B4-BE49-F238E27FC236}">
                <a16:creationId xmlns:a16="http://schemas.microsoft.com/office/drawing/2014/main" id="{30F7CDFE-BCA2-4054-6D20-417090ACE32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64172" y="2064727"/>
            <a:ext cx="9816060" cy="3373050"/>
          </a:xfrm>
          <a:prstGeom prst="rect">
            <a:avLst/>
          </a:prstGeom>
          <a:noFill/>
          <a:ln>
            <a:noFill/>
          </a:ln>
        </p:spPr>
      </p:pic>
    </p:spTree>
    <p:extLst>
      <p:ext uri="{BB962C8B-B14F-4D97-AF65-F5344CB8AC3E}">
        <p14:creationId xmlns:p14="http://schemas.microsoft.com/office/powerpoint/2010/main" val="3893725886"/>
      </p:ext>
    </p:extLst>
  </p:cSld>
  <p:clrMapOvr>
    <a:masterClrMapping/>
  </p:clrMapOvr>
</p:sld>
</file>

<file path=ppt/theme/theme1.xml><?xml version="1.0" encoding="utf-8"?>
<a:theme xmlns:a="http://schemas.openxmlformats.org/drawingml/2006/main" name="UofSC Simple Theme">
  <a:themeElements>
    <a:clrScheme name="Custom 1">
      <a:dk1>
        <a:srgbClr val="000000"/>
      </a:dk1>
      <a:lt1>
        <a:srgbClr val="FFFFFF"/>
      </a:lt1>
      <a:dk2>
        <a:srgbClr val="73000A"/>
      </a:dk2>
      <a:lt2>
        <a:srgbClr val="E7E6E6"/>
      </a:lt2>
      <a:accent1>
        <a:srgbClr val="0D3841"/>
      </a:accent1>
      <a:accent2>
        <a:srgbClr val="E23B38"/>
      </a:accent2>
      <a:accent3>
        <a:srgbClr val="759005"/>
      </a:accent3>
      <a:accent4>
        <a:srgbClr val="FFF89E"/>
      </a:accent4>
      <a:accent5>
        <a:srgbClr val="3277B6"/>
      </a:accent5>
      <a:accent6>
        <a:srgbClr val="C1D832"/>
      </a:accent6>
      <a:hlink>
        <a:srgbClr val="73000A"/>
      </a:hlink>
      <a:folHlink>
        <a:srgbClr val="E23B3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531</TotalTime>
  <Words>2211</Words>
  <Application>Microsoft Macintosh PowerPoint</Application>
  <PresentationFormat>Widescreen</PresentationFormat>
  <Paragraphs>317</Paragraphs>
  <Slides>20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 Black</vt:lpstr>
      <vt:lpstr>Calibri</vt:lpstr>
      <vt:lpstr>Arial</vt:lpstr>
      <vt:lpstr>Aptos</vt:lpstr>
      <vt:lpstr>Courier New</vt:lpstr>
      <vt:lpstr>UofSC Simple Theme</vt:lpstr>
      <vt:lpstr>Traceable Retrieval and Citation Engine (TRACE)</vt:lpstr>
      <vt:lpstr>A High-Trust Scientific Agent</vt:lpstr>
      <vt:lpstr>Packaged to Run for Decades</vt:lpstr>
      <vt:lpstr>Vector Databases in One Slide</vt:lpstr>
      <vt:lpstr>Build Once, Then Freeze</vt:lpstr>
      <vt:lpstr>RAG</vt:lpstr>
      <vt:lpstr>Parsing Docling</vt:lpstr>
      <vt:lpstr>Docling Feature extraction (tables)</vt:lpstr>
      <vt:lpstr>Docling Feature extraction (images)</vt:lpstr>
      <vt:lpstr>Docling Feature extraction (formulas)</vt:lpstr>
      <vt:lpstr>Parsing Marker</vt:lpstr>
      <vt:lpstr>Marker Feature Extraction (in text citations)</vt:lpstr>
      <vt:lpstr>What Our Database Stores</vt:lpstr>
      <vt:lpstr>Agent</vt:lpstr>
      <vt:lpstr>Retrieval </vt:lpstr>
      <vt:lpstr>Overall Results</vt:lpstr>
      <vt:lpstr>Retrieval Versus Fine-Tuning</vt:lpstr>
      <vt:lpstr>Scientific Merit and Publication</vt:lpstr>
      <vt:lpstr>Other Applications</vt:lpstr>
      <vt:lpstr>Pipeline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winapps</dc:creator>
  <cp:lastModifiedBy>Downey, Austin</cp:lastModifiedBy>
  <cp:revision>53</cp:revision>
  <dcterms:modified xsi:type="dcterms:W3CDTF">2026-10-21T20:39:48Z</dcterms:modified>
</cp:coreProperties>
</file>